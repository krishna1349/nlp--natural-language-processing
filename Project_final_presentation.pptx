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70" r:id="rId11"/>
    <p:sldId id="269" r:id="rId12"/>
    <p:sldId id="265" r:id="rId13"/>
    <p:sldId id="266" r:id="rId14"/>
    <p:sldId id="267" r:id="rId15"/>
    <p:sldId id="264" r:id="rId16"/>
    <p:sldId id="268" r:id="rId17"/>
    <p:sldId id="271" r:id="rId18"/>
    <p:sldId id="274" r:id="rId19"/>
    <p:sldId id="272" r:id="rId20"/>
    <p:sldId id="273" r:id="rId21"/>
    <p:sldId id="277" r:id="rId22"/>
    <p:sldId id="278" r:id="rId23"/>
    <p:sldId id="279" r:id="rId24"/>
    <p:sldId id="281" r:id="rId25"/>
    <p:sldId id="282" r:id="rId26"/>
    <p:sldId id="284" r:id="rId27"/>
    <p:sldId id="287" r:id="rId28"/>
    <p:sldId id="285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>
        <p:scale>
          <a:sx n="81" d="100"/>
          <a:sy n="81" d="100"/>
        </p:scale>
        <p:origin x="-366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7C12AC-8E70-40D4-AA00-030C5484A8AF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7EAECD62-CCBF-4003-A0BF-E6F5E54224E9}">
      <dgm:prSet/>
      <dgm:spPr/>
      <dgm:t>
        <a:bodyPr/>
        <a:lstStyle/>
        <a:p>
          <a:r>
            <a:rPr lang="en-US" dirty="0"/>
            <a:t>Dataset contains top 25 headlines of each day’s news from </a:t>
          </a:r>
          <a:r>
            <a:rPr lang="en-GB" dirty="0" smtClean="0"/>
            <a:t>2000-07-01 </a:t>
          </a:r>
          <a:r>
            <a:rPr lang="en-GB" dirty="0"/>
            <a:t>to 2016-07-01 </a:t>
          </a:r>
          <a:endParaRPr lang="en-US" dirty="0"/>
        </a:p>
      </dgm:t>
    </dgm:pt>
    <dgm:pt modelId="{93A37AB9-8C56-4849-8367-5BAD0810E4B3}" type="parTrans" cxnId="{7BD9B494-F856-4885-81F7-F6EC3E56744F}">
      <dgm:prSet/>
      <dgm:spPr/>
      <dgm:t>
        <a:bodyPr/>
        <a:lstStyle/>
        <a:p>
          <a:endParaRPr lang="en-US"/>
        </a:p>
      </dgm:t>
    </dgm:pt>
    <dgm:pt modelId="{AF42C07F-C142-4493-B456-CD787924DF4F}" type="sibTrans" cxnId="{7BD9B494-F856-4885-81F7-F6EC3E56744F}">
      <dgm:prSet/>
      <dgm:spPr/>
      <dgm:t>
        <a:bodyPr/>
        <a:lstStyle/>
        <a:p>
          <a:endParaRPr lang="en-US"/>
        </a:p>
      </dgm:t>
    </dgm:pt>
    <dgm:pt modelId="{8A22EC0A-5663-4BCD-8D8B-4153F6F9FB9F}">
      <dgm:prSet/>
      <dgm:spPr/>
      <dgm:t>
        <a:bodyPr/>
        <a:lstStyle/>
        <a:p>
          <a:r>
            <a:rPr lang="en-US" dirty="0"/>
            <a:t>News articles are acquired from </a:t>
          </a:r>
          <a:r>
            <a:rPr lang="en-US" dirty="0" err="1"/>
            <a:t>Reddit</a:t>
          </a:r>
          <a:r>
            <a:rPr lang="en-US" dirty="0"/>
            <a:t> News and Stocks data is of DJIA (Dow Jones Industrial Average) acquired from Yahoo Finance</a:t>
          </a:r>
        </a:p>
      </dgm:t>
    </dgm:pt>
    <dgm:pt modelId="{76445611-C6E3-40D3-8C2D-A4D1B02D1718}" type="parTrans" cxnId="{FF896699-481E-41D2-9B59-3BC69C94BEEA}">
      <dgm:prSet/>
      <dgm:spPr/>
      <dgm:t>
        <a:bodyPr/>
        <a:lstStyle/>
        <a:p>
          <a:endParaRPr lang="en-US"/>
        </a:p>
      </dgm:t>
    </dgm:pt>
    <dgm:pt modelId="{2F6BC1A1-04F7-4D07-8D1D-36236ED54A10}" type="sibTrans" cxnId="{FF896699-481E-41D2-9B59-3BC69C94BEEA}">
      <dgm:prSet/>
      <dgm:spPr/>
      <dgm:t>
        <a:bodyPr/>
        <a:lstStyle/>
        <a:p>
          <a:endParaRPr lang="en-US"/>
        </a:p>
      </dgm:t>
    </dgm:pt>
    <dgm:pt modelId="{4BD05B5F-E110-4A63-8A9F-D78CED8A3922}">
      <dgm:prSet/>
      <dgm:spPr/>
      <dgm:t>
        <a:bodyPr/>
        <a:lstStyle/>
        <a:p>
          <a:r>
            <a:rPr lang="en-US"/>
            <a:t>News headlines are ranked from top to bottom on the basis of reddit users’ votes</a:t>
          </a:r>
        </a:p>
      </dgm:t>
    </dgm:pt>
    <dgm:pt modelId="{7A44AD23-60E3-4410-ABCA-30A9AB138DE4}" type="parTrans" cxnId="{FCF25A67-C068-4D6B-BE69-1099D2C45BF7}">
      <dgm:prSet/>
      <dgm:spPr/>
      <dgm:t>
        <a:bodyPr/>
        <a:lstStyle/>
        <a:p>
          <a:endParaRPr lang="en-US"/>
        </a:p>
      </dgm:t>
    </dgm:pt>
    <dgm:pt modelId="{2DF7C89C-4C74-4A85-8968-1CCC971F19DA}" type="sibTrans" cxnId="{FCF25A67-C068-4D6B-BE69-1099D2C45BF7}">
      <dgm:prSet/>
      <dgm:spPr/>
      <dgm:t>
        <a:bodyPr/>
        <a:lstStyle/>
        <a:p>
          <a:endParaRPr lang="en-US"/>
        </a:p>
      </dgm:t>
    </dgm:pt>
    <dgm:pt modelId="{71AA4A91-A489-443B-9540-078C5B28CF35}">
      <dgm:prSet/>
      <dgm:spPr/>
      <dgm:t>
        <a:bodyPr/>
        <a:lstStyle/>
        <a:p>
          <a:r>
            <a:rPr lang="en-US"/>
            <a:t>News and DJIA have been combined to form a single dataset with its columns as: Date, Label, Top 1 up to Top 25</a:t>
          </a:r>
        </a:p>
      </dgm:t>
    </dgm:pt>
    <dgm:pt modelId="{F8C80104-09B3-4531-AE12-4A7DB3038D79}" type="parTrans" cxnId="{ECCB1DCA-A0BB-4FC8-933D-AEA6F47E1A7C}">
      <dgm:prSet/>
      <dgm:spPr/>
      <dgm:t>
        <a:bodyPr/>
        <a:lstStyle/>
        <a:p>
          <a:endParaRPr lang="en-US"/>
        </a:p>
      </dgm:t>
    </dgm:pt>
    <dgm:pt modelId="{FB04A04F-4023-4673-B705-89EB2F3F7EFB}" type="sibTrans" cxnId="{ECCB1DCA-A0BB-4FC8-933D-AEA6F47E1A7C}">
      <dgm:prSet/>
      <dgm:spPr/>
      <dgm:t>
        <a:bodyPr/>
        <a:lstStyle/>
        <a:p>
          <a:endParaRPr lang="en-US"/>
        </a:p>
      </dgm:t>
    </dgm:pt>
    <dgm:pt modelId="{147B45D8-D295-4505-BAC6-EF849EA109DD}" type="pres">
      <dgm:prSet presAssocID="{097C12AC-8E70-40D4-AA00-030C5484A8A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9F78DCE-E3B8-4783-8F38-511FE08BF8B0}" type="pres">
      <dgm:prSet presAssocID="{7EAECD62-CCBF-4003-A0BF-E6F5E54224E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DAD8E91-400A-432D-ABA9-6B8918A960F0}" type="pres">
      <dgm:prSet presAssocID="{AF42C07F-C142-4493-B456-CD787924DF4F}" presName="spacer" presStyleCnt="0"/>
      <dgm:spPr/>
    </dgm:pt>
    <dgm:pt modelId="{9680E26C-B929-4E36-8DDE-0AC0E127A4DA}" type="pres">
      <dgm:prSet presAssocID="{8A22EC0A-5663-4BCD-8D8B-4153F6F9FB9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09CE09B-3F5B-46FC-B488-28307C781CA7}" type="pres">
      <dgm:prSet presAssocID="{2F6BC1A1-04F7-4D07-8D1D-36236ED54A10}" presName="spacer" presStyleCnt="0"/>
      <dgm:spPr/>
    </dgm:pt>
    <dgm:pt modelId="{2B850D51-156F-47B4-8101-3F221F417B55}" type="pres">
      <dgm:prSet presAssocID="{4BD05B5F-E110-4A63-8A9F-D78CED8A392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6D62BD6-3519-464C-8C4C-EE64898C8F75}" type="pres">
      <dgm:prSet presAssocID="{2DF7C89C-4C74-4A85-8968-1CCC971F19DA}" presName="spacer" presStyleCnt="0"/>
      <dgm:spPr/>
    </dgm:pt>
    <dgm:pt modelId="{2B4B0B1C-5DFA-4832-84BE-3B34277B6BDB}" type="pres">
      <dgm:prSet presAssocID="{71AA4A91-A489-443B-9540-078C5B28CF3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9FF485B-A13B-407F-B660-B8D266B5824A}" type="presOf" srcId="{7EAECD62-CCBF-4003-A0BF-E6F5E54224E9}" destId="{B9F78DCE-E3B8-4783-8F38-511FE08BF8B0}" srcOrd="0" destOrd="0" presId="urn:microsoft.com/office/officeart/2005/8/layout/vList2"/>
    <dgm:cxn modelId="{FF896699-481E-41D2-9B59-3BC69C94BEEA}" srcId="{097C12AC-8E70-40D4-AA00-030C5484A8AF}" destId="{8A22EC0A-5663-4BCD-8D8B-4153F6F9FB9F}" srcOrd="1" destOrd="0" parTransId="{76445611-C6E3-40D3-8C2D-A4D1B02D1718}" sibTransId="{2F6BC1A1-04F7-4D07-8D1D-36236ED54A10}"/>
    <dgm:cxn modelId="{ECCB1DCA-A0BB-4FC8-933D-AEA6F47E1A7C}" srcId="{097C12AC-8E70-40D4-AA00-030C5484A8AF}" destId="{71AA4A91-A489-443B-9540-078C5B28CF35}" srcOrd="3" destOrd="0" parTransId="{F8C80104-09B3-4531-AE12-4A7DB3038D79}" sibTransId="{FB04A04F-4023-4673-B705-89EB2F3F7EFB}"/>
    <dgm:cxn modelId="{7BD9B494-F856-4885-81F7-F6EC3E56744F}" srcId="{097C12AC-8E70-40D4-AA00-030C5484A8AF}" destId="{7EAECD62-CCBF-4003-A0BF-E6F5E54224E9}" srcOrd="0" destOrd="0" parTransId="{93A37AB9-8C56-4849-8367-5BAD0810E4B3}" sibTransId="{AF42C07F-C142-4493-B456-CD787924DF4F}"/>
    <dgm:cxn modelId="{F6719826-AAB6-49D4-B462-E3992D3B05DD}" type="presOf" srcId="{4BD05B5F-E110-4A63-8A9F-D78CED8A3922}" destId="{2B850D51-156F-47B4-8101-3F221F417B55}" srcOrd="0" destOrd="0" presId="urn:microsoft.com/office/officeart/2005/8/layout/vList2"/>
    <dgm:cxn modelId="{FB700B94-7869-42FA-89D1-073C21A76A1A}" type="presOf" srcId="{8A22EC0A-5663-4BCD-8D8B-4153F6F9FB9F}" destId="{9680E26C-B929-4E36-8DDE-0AC0E127A4DA}" srcOrd="0" destOrd="0" presId="urn:microsoft.com/office/officeart/2005/8/layout/vList2"/>
    <dgm:cxn modelId="{37D89DB5-553B-468C-A270-2DAE2D820C92}" type="presOf" srcId="{097C12AC-8E70-40D4-AA00-030C5484A8AF}" destId="{147B45D8-D295-4505-BAC6-EF849EA109DD}" srcOrd="0" destOrd="0" presId="urn:microsoft.com/office/officeart/2005/8/layout/vList2"/>
    <dgm:cxn modelId="{112566E3-EA51-488E-BAA7-EF3AEA5D6F80}" type="presOf" srcId="{71AA4A91-A489-443B-9540-078C5B28CF35}" destId="{2B4B0B1C-5DFA-4832-84BE-3B34277B6BDB}" srcOrd="0" destOrd="0" presId="urn:microsoft.com/office/officeart/2005/8/layout/vList2"/>
    <dgm:cxn modelId="{FCF25A67-C068-4D6B-BE69-1099D2C45BF7}" srcId="{097C12AC-8E70-40D4-AA00-030C5484A8AF}" destId="{4BD05B5F-E110-4A63-8A9F-D78CED8A3922}" srcOrd="2" destOrd="0" parTransId="{7A44AD23-60E3-4410-ABCA-30A9AB138DE4}" sibTransId="{2DF7C89C-4C74-4A85-8968-1CCC971F19DA}"/>
    <dgm:cxn modelId="{1BE597E7-EBE3-4F51-9386-3100CCBF208C}" type="presParOf" srcId="{147B45D8-D295-4505-BAC6-EF849EA109DD}" destId="{B9F78DCE-E3B8-4783-8F38-511FE08BF8B0}" srcOrd="0" destOrd="0" presId="urn:microsoft.com/office/officeart/2005/8/layout/vList2"/>
    <dgm:cxn modelId="{3F575178-6C7D-4C3A-89FE-E7FA926CBBA1}" type="presParOf" srcId="{147B45D8-D295-4505-BAC6-EF849EA109DD}" destId="{7DAD8E91-400A-432D-ABA9-6B8918A960F0}" srcOrd="1" destOrd="0" presId="urn:microsoft.com/office/officeart/2005/8/layout/vList2"/>
    <dgm:cxn modelId="{C4CB631F-AAF8-4486-BC34-155FDACA8B6D}" type="presParOf" srcId="{147B45D8-D295-4505-BAC6-EF849EA109DD}" destId="{9680E26C-B929-4E36-8DDE-0AC0E127A4DA}" srcOrd="2" destOrd="0" presId="urn:microsoft.com/office/officeart/2005/8/layout/vList2"/>
    <dgm:cxn modelId="{12765812-75A5-4A96-A63C-5D95C3BB35CF}" type="presParOf" srcId="{147B45D8-D295-4505-BAC6-EF849EA109DD}" destId="{909CE09B-3F5B-46FC-B488-28307C781CA7}" srcOrd="3" destOrd="0" presId="urn:microsoft.com/office/officeart/2005/8/layout/vList2"/>
    <dgm:cxn modelId="{84088465-7EA0-44F5-A22D-6BFD60E83BF4}" type="presParOf" srcId="{147B45D8-D295-4505-BAC6-EF849EA109DD}" destId="{2B850D51-156F-47B4-8101-3F221F417B55}" srcOrd="4" destOrd="0" presId="urn:microsoft.com/office/officeart/2005/8/layout/vList2"/>
    <dgm:cxn modelId="{DF5C6C52-E926-481E-8C4E-88D13994B18D}" type="presParOf" srcId="{147B45D8-D295-4505-BAC6-EF849EA109DD}" destId="{36D62BD6-3519-464C-8C4C-EE64898C8F75}" srcOrd="5" destOrd="0" presId="urn:microsoft.com/office/officeart/2005/8/layout/vList2"/>
    <dgm:cxn modelId="{833491AC-0CAB-4C96-8C57-25DB1842F18D}" type="presParOf" srcId="{147B45D8-D295-4505-BAC6-EF849EA109DD}" destId="{2B4B0B1C-5DFA-4832-84BE-3B34277B6BD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9EE8FB-B21A-4267-9A87-DB7A21A96555}" type="doc">
      <dgm:prSet loTypeId="urn:microsoft.com/office/officeart/2005/8/layout/matrix2" loCatId="matrix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19D0500-180F-403F-A009-D7069B428299}">
      <dgm:prSet/>
      <dgm:spPr/>
      <dgm:t>
        <a:bodyPr/>
        <a:lstStyle/>
        <a:p>
          <a:r>
            <a:rPr lang="en-US" dirty="0"/>
            <a:t>Date: date of each day of the news</a:t>
          </a:r>
        </a:p>
      </dgm:t>
    </dgm:pt>
    <dgm:pt modelId="{8C423904-AF35-4A9B-8A13-02E069375C16}" type="parTrans" cxnId="{77EEBEB8-9DF8-4E33-AF86-B6FDCFA7D8D6}">
      <dgm:prSet/>
      <dgm:spPr/>
      <dgm:t>
        <a:bodyPr/>
        <a:lstStyle/>
        <a:p>
          <a:endParaRPr lang="en-US"/>
        </a:p>
      </dgm:t>
    </dgm:pt>
    <dgm:pt modelId="{B60C18FF-96B4-4236-ABFF-A412A683C70F}" type="sibTrans" cxnId="{77EEBEB8-9DF8-4E33-AF86-B6FDCFA7D8D6}">
      <dgm:prSet/>
      <dgm:spPr/>
      <dgm:t>
        <a:bodyPr/>
        <a:lstStyle/>
        <a:p>
          <a:endParaRPr lang="en-US"/>
        </a:p>
      </dgm:t>
    </dgm:pt>
    <dgm:pt modelId="{43B7271E-0F3A-41A6-9F38-4388B8C35D39}">
      <dgm:prSet/>
      <dgm:spPr/>
      <dgm:t>
        <a:bodyPr/>
        <a:lstStyle/>
        <a:p>
          <a:r>
            <a:rPr lang="en-US"/>
            <a:t>Label: 1 or 0, </a:t>
          </a:r>
        </a:p>
      </dgm:t>
    </dgm:pt>
    <dgm:pt modelId="{16C6184A-E91A-491A-952F-E2C84B0C7798}" type="parTrans" cxnId="{C024842A-DF8A-473C-8455-9244B1DD600F}">
      <dgm:prSet/>
      <dgm:spPr/>
      <dgm:t>
        <a:bodyPr/>
        <a:lstStyle/>
        <a:p>
          <a:endParaRPr lang="en-US"/>
        </a:p>
      </dgm:t>
    </dgm:pt>
    <dgm:pt modelId="{2316639B-4D35-43C8-BB41-19C129F626AC}" type="sibTrans" cxnId="{C024842A-DF8A-473C-8455-9244B1DD600F}">
      <dgm:prSet/>
      <dgm:spPr/>
      <dgm:t>
        <a:bodyPr/>
        <a:lstStyle/>
        <a:p>
          <a:endParaRPr lang="en-US"/>
        </a:p>
      </dgm:t>
    </dgm:pt>
    <dgm:pt modelId="{0DEE3CA8-FCBB-45F7-B16F-D13289203025}">
      <dgm:prSet/>
      <dgm:spPr/>
      <dgm:t>
        <a:bodyPr/>
        <a:lstStyle/>
        <a:p>
          <a:r>
            <a:rPr lang="en-US"/>
            <a:t>“1” when DJIA close value rose or stayed at same</a:t>
          </a:r>
        </a:p>
      </dgm:t>
    </dgm:pt>
    <dgm:pt modelId="{BAB168EF-A1F8-459F-A79C-73C93C575D0A}" type="parTrans" cxnId="{3BECD2DD-11B9-4CAC-A027-370F71C74207}">
      <dgm:prSet/>
      <dgm:spPr/>
      <dgm:t>
        <a:bodyPr/>
        <a:lstStyle/>
        <a:p>
          <a:endParaRPr lang="en-US"/>
        </a:p>
      </dgm:t>
    </dgm:pt>
    <dgm:pt modelId="{3533D820-7AB4-4747-8AAA-60205D774F5E}" type="sibTrans" cxnId="{3BECD2DD-11B9-4CAC-A027-370F71C74207}">
      <dgm:prSet/>
      <dgm:spPr/>
      <dgm:t>
        <a:bodyPr/>
        <a:lstStyle/>
        <a:p>
          <a:endParaRPr lang="en-US"/>
        </a:p>
      </dgm:t>
    </dgm:pt>
    <dgm:pt modelId="{8C33F5E4-025E-4391-9B5B-B5307AF06809}">
      <dgm:prSet/>
      <dgm:spPr/>
      <dgm:t>
        <a:bodyPr/>
        <a:lstStyle/>
        <a:p>
          <a:r>
            <a:rPr lang="en-US"/>
            <a:t>“0” when DJIA close value decreased</a:t>
          </a:r>
        </a:p>
      </dgm:t>
    </dgm:pt>
    <dgm:pt modelId="{6E1E3040-8849-4615-9EAD-8A8C8B095260}" type="parTrans" cxnId="{D8FB3791-F5B5-4B2F-B4D2-EACBE2172BCD}">
      <dgm:prSet/>
      <dgm:spPr/>
      <dgm:t>
        <a:bodyPr/>
        <a:lstStyle/>
        <a:p>
          <a:endParaRPr lang="en-US"/>
        </a:p>
      </dgm:t>
    </dgm:pt>
    <dgm:pt modelId="{59A8C6DF-2933-415C-AF3C-6853D0790407}" type="sibTrans" cxnId="{D8FB3791-F5B5-4B2F-B4D2-EACBE2172BCD}">
      <dgm:prSet/>
      <dgm:spPr/>
      <dgm:t>
        <a:bodyPr/>
        <a:lstStyle/>
        <a:p>
          <a:endParaRPr lang="en-US"/>
        </a:p>
      </dgm:t>
    </dgm:pt>
    <dgm:pt modelId="{D3AAA03E-BA70-47E0-B4FC-F9C2D57541C4}">
      <dgm:prSet/>
      <dgm:spPr/>
      <dgm:t>
        <a:bodyPr/>
        <a:lstStyle/>
        <a:p>
          <a:r>
            <a:rPr lang="en-US"/>
            <a:t>Top 1: column that contains top 1 ranked news of that day</a:t>
          </a:r>
        </a:p>
      </dgm:t>
    </dgm:pt>
    <dgm:pt modelId="{2FA494F4-7224-4181-A1EA-889CFB2F308C}" type="parTrans" cxnId="{2652EF0B-4E41-46C1-B055-06A3E8C6B901}">
      <dgm:prSet/>
      <dgm:spPr/>
      <dgm:t>
        <a:bodyPr/>
        <a:lstStyle/>
        <a:p>
          <a:endParaRPr lang="en-US"/>
        </a:p>
      </dgm:t>
    </dgm:pt>
    <dgm:pt modelId="{9E99DD64-181E-4CBC-8FAC-636CF9B63343}" type="sibTrans" cxnId="{2652EF0B-4E41-46C1-B055-06A3E8C6B901}">
      <dgm:prSet/>
      <dgm:spPr/>
      <dgm:t>
        <a:bodyPr/>
        <a:lstStyle/>
        <a:p>
          <a:endParaRPr lang="en-US"/>
        </a:p>
      </dgm:t>
    </dgm:pt>
    <dgm:pt modelId="{AF50E64B-36DA-46FF-A5D0-BB4117C8FB84}">
      <dgm:prSet/>
      <dgm:spPr/>
      <dgm:t>
        <a:bodyPr/>
        <a:lstStyle/>
        <a:p>
          <a:r>
            <a:rPr lang="en-US"/>
            <a:t>Top 2 to Top 25: columns that contain top 2 to top 25 ranked news from top to bottom on that day</a:t>
          </a:r>
        </a:p>
      </dgm:t>
    </dgm:pt>
    <dgm:pt modelId="{586014C7-710E-4DB4-BF78-0B8FE6EBECEE}" type="parTrans" cxnId="{72B29670-9C80-4023-8653-E2FD226CA77B}">
      <dgm:prSet/>
      <dgm:spPr/>
      <dgm:t>
        <a:bodyPr/>
        <a:lstStyle/>
        <a:p>
          <a:endParaRPr lang="en-US"/>
        </a:p>
      </dgm:t>
    </dgm:pt>
    <dgm:pt modelId="{364E2C9E-555D-4A5E-A56B-C373631AF813}" type="sibTrans" cxnId="{72B29670-9C80-4023-8653-E2FD226CA77B}">
      <dgm:prSet/>
      <dgm:spPr/>
      <dgm:t>
        <a:bodyPr/>
        <a:lstStyle/>
        <a:p>
          <a:endParaRPr lang="en-US"/>
        </a:p>
      </dgm:t>
    </dgm:pt>
    <dgm:pt modelId="{787E1185-C764-46FB-8004-02A0111F9787}" type="pres">
      <dgm:prSet presAssocID="{0E9EE8FB-B21A-4267-9A87-DB7A21A96555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0FCDB96-E9CD-4D7E-92A5-2B9D7908C298}" type="pres">
      <dgm:prSet presAssocID="{0E9EE8FB-B21A-4267-9A87-DB7A21A96555}" presName="axisShape" presStyleLbl="bgShp" presStyleIdx="0" presStyleCnt="1"/>
      <dgm:spPr/>
    </dgm:pt>
    <dgm:pt modelId="{CC76AC79-3E66-45AC-9947-909A9D017116}" type="pres">
      <dgm:prSet presAssocID="{0E9EE8FB-B21A-4267-9A87-DB7A21A96555}" presName="rect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F482D40-E46C-4C97-8770-5E89E96A2126}" type="pres">
      <dgm:prSet presAssocID="{0E9EE8FB-B21A-4267-9A87-DB7A21A96555}" presName="rect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501B38D-A2BF-4FDA-A5A3-8E1DCF0CDC53}" type="pres">
      <dgm:prSet presAssocID="{0E9EE8FB-B21A-4267-9A87-DB7A21A96555}" presName="rect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C18AE84-1576-4C06-97A9-072AA9B64CD9}" type="pres">
      <dgm:prSet presAssocID="{0E9EE8FB-B21A-4267-9A87-DB7A21A96555}" presName="rect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99A4BA4-2559-47D3-A9FB-3912C456D82C}" type="presOf" srcId="{43B7271E-0F3A-41A6-9F38-4388B8C35D39}" destId="{CF482D40-E46C-4C97-8770-5E89E96A2126}" srcOrd="0" destOrd="0" presId="urn:microsoft.com/office/officeart/2005/8/layout/matrix2"/>
    <dgm:cxn modelId="{2652EF0B-4E41-46C1-B055-06A3E8C6B901}" srcId="{0E9EE8FB-B21A-4267-9A87-DB7A21A96555}" destId="{D3AAA03E-BA70-47E0-B4FC-F9C2D57541C4}" srcOrd="2" destOrd="0" parTransId="{2FA494F4-7224-4181-A1EA-889CFB2F308C}" sibTransId="{9E99DD64-181E-4CBC-8FAC-636CF9B63343}"/>
    <dgm:cxn modelId="{72B29670-9C80-4023-8653-E2FD226CA77B}" srcId="{0E9EE8FB-B21A-4267-9A87-DB7A21A96555}" destId="{AF50E64B-36DA-46FF-A5D0-BB4117C8FB84}" srcOrd="3" destOrd="0" parTransId="{586014C7-710E-4DB4-BF78-0B8FE6EBECEE}" sibTransId="{364E2C9E-555D-4A5E-A56B-C373631AF813}"/>
    <dgm:cxn modelId="{1EE4D49C-A8F5-4C45-A228-E5F5095D7DC0}" type="presOf" srcId="{0DEE3CA8-FCBB-45F7-B16F-D13289203025}" destId="{CF482D40-E46C-4C97-8770-5E89E96A2126}" srcOrd="0" destOrd="1" presId="urn:microsoft.com/office/officeart/2005/8/layout/matrix2"/>
    <dgm:cxn modelId="{C024842A-DF8A-473C-8455-9244B1DD600F}" srcId="{0E9EE8FB-B21A-4267-9A87-DB7A21A96555}" destId="{43B7271E-0F3A-41A6-9F38-4388B8C35D39}" srcOrd="1" destOrd="0" parTransId="{16C6184A-E91A-491A-952F-E2C84B0C7798}" sibTransId="{2316639B-4D35-43C8-BB41-19C129F626AC}"/>
    <dgm:cxn modelId="{AAD4640B-E254-42D0-8906-FDA0061C96BC}" type="presOf" srcId="{D3AAA03E-BA70-47E0-B4FC-F9C2D57541C4}" destId="{9501B38D-A2BF-4FDA-A5A3-8E1DCF0CDC53}" srcOrd="0" destOrd="0" presId="urn:microsoft.com/office/officeart/2005/8/layout/matrix2"/>
    <dgm:cxn modelId="{EBA0AB6B-25FB-4C58-9E55-9F85841DF788}" type="presOf" srcId="{F19D0500-180F-403F-A009-D7069B428299}" destId="{CC76AC79-3E66-45AC-9947-909A9D017116}" srcOrd="0" destOrd="0" presId="urn:microsoft.com/office/officeart/2005/8/layout/matrix2"/>
    <dgm:cxn modelId="{1BF5D91C-B65A-4799-BF19-703251F2B440}" type="presOf" srcId="{8C33F5E4-025E-4391-9B5B-B5307AF06809}" destId="{CF482D40-E46C-4C97-8770-5E89E96A2126}" srcOrd="0" destOrd="2" presId="urn:microsoft.com/office/officeart/2005/8/layout/matrix2"/>
    <dgm:cxn modelId="{3BECD2DD-11B9-4CAC-A027-370F71C74207}" srcId="{43B7271E-0F3A-41A6-9F38-4388B8C35D39}" destId="{0DEE3CA8-FCBB-45F7-B16F-D13289203025}" srcOrd="0" destOrd="0" parTransId="{BAB168EF-A1F8-459F-A79C-73C93C575D0A}" sibTransId="{3533D820-7AB4-4747-8AAA-60205D774F5E}"/>
    <dgm:cxn modelId="{494029D0-1B22-4C9F-A0FB-FC47AAB4310E}" type="presOf" srcId="{0E9EE8FB-B21A-4267-9A87-DB7A21A96555}" destId="{787E1185-C764-46FB-8004-02A0111F9787}" srcOrd="0" destOrd="0" presId="urn:microsoft.com/office/officeart/2005/8/layout/matrix2"/>
    <dgm:cxn modelId="{77EEBEB8-9DF8-4E33-AF86-B6FDCFA7D8D6}" srcId="{0E9EE8FB-B21A-4267-9A87-DB7A21A96555}" destId="{F19D0500-180F-403F-A009-D7069B428299}" srcOrd="0" destOrd="0" parTransId="{8C423904-AF35-4A9B-8A13-02E069375C16}" sibTransId="{B60C18FF-96B4-4236-ABFF-A412A683C70F}"/>
    <dgm:cxn modelId="{D8FB3791-F5B5-4B2F-B4D2-EACBE2172BCD}" srcId="{43B7271E-0F3A-41A6-9F38-4388B8C35D39}" destId="{8C33F5E4-025E-4391-9B5B-B5307AF06809}" srcOrd="1" destOrd="0" parTransId="{6E1E3040-8849-4615-9EAD-8A8C8B095260}" sibTransId="{59A8C6DF-2933-415C-AF3C-6853D0790407}"/>
    <dgm:cxn modelId="{161491F8-EA74-4191-A81B-9B9190470B49}" type="presOf" srcId="{AF50E64B-36DA-46FF-A5D0-BB4117C8FB84}" destId="{2C18AE84-1576-4C06-97A9-072AA9B64CD9}" srcOrd="0" destOrd="0" presId="urn:microsoft.com/office/officeart/2005/8/layout/matrix2"/>
    <dgm:cxn modelId="{E45FFE38-08EB-445F-AACC-6F429C49EBE1}" type="presParOf" srcId="{787E1185-C764-46FB-8004-02A0111F9787}" destId="{20FCDB96-E9CD-4D7E-92A5-2B9D7908C298}" srcOrd="0" destOrd="0" presId="urn:microsoft.com/office/officeart/2005/8/layout/matrix2"/>
    <dgm:cxn modelId="{C56449B2-1EF7-4C6F-ABBC-DC1E2A544C6C}" type="presParOf" srcId="{787E1185-C764-46FB-8004-02A0111F9787}" destId="{CC76AC79-3E66-45AC-9947-909A9D017116}" srcOrd="1" destOrd="0" presId="urn:microsoft.com/office/officeart/2005/8/layout/matrix2"/>
    <dgm:cxn modelId="{0ABD50A5-C65E-499F-BAEC-FB1386C85DA4}" type="presParOf" srcId="{787E1185-C764-46FB-8004-02A0111F9787}" destId="{CF482D40-E46C-4C97-8770-5E89E96A2126}" srcOrd="2" destOrd="0" presId="urn:microsoft.com/office/officeart/2005/8/layout/matrix2"/>
    <dgm:cxn modelId="{8FDEBA28-A1B9-40D2-8017-3DAB247794CD}" type="presParOf" srcId="{787E1185-C764-46FB-8004-02A0111F9787}" destId="{9501B38D-A2BF-4FDA-A5A3-8E1DCF0CDC53}" srcOrd="3" destOrd="0" presId="urn:microsoft.com/office/officeart/2005/8/layout/matrix2"/>
    <dgm:cxn modelId="{0810CEA3-2D19-458F-A59E-FFFB3FBAA0A9}" type="presParOf" srcId="{787E1185-C764-46FB-8004-02A0111F9787}" destId="{2C18AE84-1576-4C06-97A9-072AA9B64CD9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3CAFF3-CAE8-4BD8-886C-774F31C10908}" type="doc">
      <dgm:prSet loTypeId="urn:microsoft.com/office/officeart/2008/layout/LinedList" loCatId="list" qsTypeId="urn:microsoft.com/office/officeart/2005/8/quickstyle/simple5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92CAA369-B329-4E4C-8D7D-371F395189B9}">
      <dgm:prSet/>
      <dgm:spPr/>
      <dgm:t>
        <a:bodyPr/>
        <a:lstStyle/>
        <a:p>
          <a:r>
            <a:rPr lang="en-US"/>
            <a:t>Combined all the sentences in a row to a single string.</a:t>
          </a:r>
        </a:p>
      </dgm:t>
    </dgm:pt>
    <dgm:pt modelId="{1058AFF8-4ECF-4443-808A-03EE5A07ABC6}" type="parTrans" cxnId="{AF7EB399-03BB-4DBF-9894-90F8C41C34FB}">
      <dgm:prSet/>
      <dgm:spPr/>
      <dgm:t>
        <a:bodyPr/>
        <a:lstStyle/>
        <a:p>
          <a:endParaRPr lang="en-US"/>
        </a:p>
      </dgm:t>
    </dgm:pt>
    <dgm:pt modelId="{03AC3E5F-BC12-4A54-AEA3-FDF377E0C3DF}" type="sibTrans" cxnId="{AF7EB399-03BB-4DBF-9894-90F8C41C34FB}">
      <dgm:prSet/>
      <dgm:spPr/>
      <dgm:t>
        <a:bodyPr/>
        <a:lstStyle/>
        <a:p>
          <a:endParaRPr lang="en-US"/>
        </a:p>
      </dgm:t>
    </dgm:pt>
    <dgm:pt modelId="{F2272ED7-B652-40CB-B7F9-87B43AE22C75}">
      <dgm:prSet/>
      <dgm:spPr/>
      <dgm:t>
        <a:bodyPr/>
        <a:lstStyle/>
        <a:p>
          <a:r>
            <a:rPr lang="en-US"/>
            <a:t>Then used CountVectorizer function to preprocess the data.</a:t>
          </a:r>
        </a:p>
      </dgm:t>
    </dgm:pt>
    <dgm:pt modelId="{5752F66A-6386-48E7-B26D-4D6BDC0655A0}" type="parTrans" cxnId="{7484F715-34E7-4948-A44D-0C67210E9293}">
      <dgm:prSet/>
      <dgm:spPr/>
      <dgm:t>
        <a:bodyPr/>
        <a:lstStyle/>
        <a:p>
          <a:endParaRPr lang="en-US"/>
        </a:p>
      </dgm:t>
    </dgm:pt>
    <dgm:pt modelId="{1AC9C7CB-B41E-4E4C-8E1C-1C10A286A744}" type="sibTrans" cxnId="{7484F715-34E7-4948-A44D-0C67210E9293}">
      <dgm:prSet/>
      <dgm:spPr/>
      <dgm:t>
        <a:bodyPr/>
        <a:lstStyle/>
        <a:p>
          <a:endParaRPr lang="en-US"/>
        </a:p>
      </dgm:t>
    </dgm:pt>
    <dgm:pt modelId="{DF7331EF-60BE-4AB9-AD4C-12596497F1B2}" type="pres">
      <dgm:prSet presAssocID="{163CAFF3-CAE8-4BD8-886C-774F31C1090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7B18FCEB-B583-4B04-B645-A58C584DA8BD}" type="pres">
      <dgm:prSet presAssocID="{92CAA369-B329-4E4C-8D7D-371F395189B9}" presName="thickLine" presStyleLbl="alignNode1" presStyleIdx="0" presStyleCnt="2"/>
      <dgm:spPr/>
    </dgm:pt>
    <dgm:pt modelId="{BBBF8855-B344-49B3-A749-6D5633FD79C1}" type="pres">
      <dgm:prSet presAssocID="{92CAA369-B329-4E4C-8D7D-371F395189B9}" presName="horz1" presStyleCnt="0"/>
      <dgm:spPr/>
    </dgm:pt>
    <dgm:pt modelId="{074346B0-9229-404B-839D-F4731A2F41E1}" type="pres">
      <dgm:prSet presAssocID="{92CAA369-B329-4E4C-8D7D-371F395189B9}" presName="tx1" presStyleLbl="revTx" presStyleIdx="0" presStyleCnt="2"/>
      <dgm:spPr/>
      <dgm:t>
        <a:bodyPr/>
        <a:lstStyle/>
        <a:p>
          <a:endParaRPr lang="en-IN"/>
        </a:p>
      </dgm:t>
    </dgm:pt>
    <dgm:pt modelId="{CD1A7650-757E-4C1E-B311-3FA292FCCDF2}" type="pres">
      <dgm:prSet presAssocID="{92CAA369-B329-4E4C-8D7D-371F395189B9}" presName="vert1" presStyleCnt="0"/>
      <dgm:spPr/>
    </dgm:pt>
    <dgm:pt modelId="{A802512C-2036-48CC-B345-641C37FF11DB}" type="pres">
      <dgm:prSet presAssocID="{F2272ED7-B652-40CB-B7F9-87B43AE22C75}" presName="thickLine" presStyleLbl="alignNode1" presStyleIdx="1" presStyleCnt="2"/>
      <dgm:spPr/>
    </dgm:pt>
    <dgm:pt modelId="{4C536273-289C-446B-8C9D-AEA05FC371E0}" type="pres">
      <dgm:prSet presAssocID="{F2272ED7-B652-40CB-B7F9-87B43AE22C75}" presName="horz1" presStyleCnt="0"/>
      <dgm:spPr/>
    </dgm:pt>
    <dgm:pt modelId="{325A7150-9480-4056-8C22-6B12DE8B61B9}" type="pres">
      <dgm:prSet presAssocID="{F2272ED7-B652-40CB-B7F9-87B43AE22C75}" presName="tx1" presStyleLbl="revTx" presStyleIdx="1" presStyleCnt="2"/>
      <dgm:spPr/>
      <dgm:t>
        <a:bodyPr/>
        <a:lstStyle/>
        <a:p>
          <a:endParaRPr lang="en-IN"/>
        </a:p>
      </dgm:t>
    </dgm:pt>
    <dgm:pt modelId="{9A86300C-5D9E-4D9A-ABFF-DFAEE760A075}" type="pres">
      <dgm:prSet presAssocID="{F2272ED7-B652-40CB-B7F9-87B43AE22C75}" presName="vert1" presStyleCnt="0"/>
      <dgm:spPr/>
    </dgm:pt>
  </dgm:ptLst>
  <dgm:cxnLst>
    <dgm:cxn modelId="{889960EE-CFA3-4455-BC0D-FFBAAA1886A5}" type="presOf" srcId="{163CAFF3-CAE8-4BD8-886C-774F31C10908}" destId="{DF7331EF-60BE-4AB9-AD4C-12596497F1B2}" srcOrd="0" destOrd="0" presId="urn:microsoft.com/office/officeart/2008/layout/LinedList"/>
    <dgm:cxn modelId="{25490721-4DBB-4333-949E-715EF186B0A1}" type="presOf" srcId="{92CAA369-B329-4E4C-8D7D-371F395189B9}" destId="{074346B0-9229-404B-839D-F4731A2F41E1}" srcOrd="0" destOrd="0" presId="urn:microsoft.com/office/officeart/2008/layout/LinedList"/>
    <dgm:cxn modelId="{AF7EB399-03BB-4DBF-9894-90F8C41C34FB}" srcId="{163CAFF3-CAE8-4BD8-886C-774F31C10908}" destId="{92CAA369-B329-4E4C-8D7D-371F395189B9}" srcOrd="0" destOrd="0" parTransId="{1058AFF8-4ECF-4443-808A-03EE5A07ABC6}" sibTransId="{03AC3E5F-BC12-4A54-AEA3-FDF377E0C3DF}"/>
    <dgm:cxn modelId="{7484F715-34E7-4948-A44D-0C67210E9293}" srcId="{163CAFF3-CAE8-4BD8-886C-774F31C10908}" destId="{F2272ED7-B652-40CB-B7F9-87B43AE22C75}" srcOrd="1" destOrd="0" parTransId="{5752F66A-6386-48E7-B26D-4D6BDC0655A0}" sibTransId="{1AC9C7CB-B41E-4E4C-8E1C-1C10A286A744}"/>
    <dgm:cxn modelId="{2AC9FF13-729E-48E4-B849-D1FF561CC597}" type="presOf" srcId="{F2272ED7-B652-40CB-B7F9-87B43AE22C75}" destId="{325A7150-9480-4056-8C22-6B12DE8B61B9}" srcOrd="0" destOrd="0" presId="urn:microsoft.com/office/officeart/2008/layout/LinedList"/>
    <dgm:cxn modelId="{8FBF53B9-01F5-4EB9-977B-D4BF76DA5B2D}" type="presParOf" srcId="{DF7331EF-60BE-4AB9-AD4C-12596497F1B2}" destId="{7B18FCEB-B583-4B04-B645-A58C584DA8BD}" srcOrd="0" destOrd="0" presId="urn:microsoft.com/office/officeart/2008/layout/LinedList"/>
    <dgm:cxn modelId="{F496E7A3-281C-4BA5-825A-3E3AB0738970}" type="presParOf" srcId="{DF7331EF-60BE-4AB9-AD4C-12596497F1B2}" destId="{BBBF8855-B344-49B3-A749-6D5633FD79C1}" srcOrd="1" destOrd="0" presId="urn:microsoft.com/office/officeart/2008/layout/LinedList"/>
    <dgm:cxn modelId="{A512D25F-9C2A-41AC-A156-2C50EC152CBD}" type="presParOf" srcId="{BBBF8855-B344-49B3-A749-6D5633FD79C1}" destId="{074346B0-9229-404B-839D-F4731A2F41E1}" srcOrd="0" destOrd="0" presId="urn:microsoft.com/office/officeart/2008/layout/LinedList"/>
    <dgm:cxn modelId="{81460177-1616-4AB5-BAE5-5A54507BAC2D}" type="presParOf" srcId="{BBBF8855-B344-49B3-A749-6D5633FD79C1}" destId="{CD1A7650-757E-4C1E-B311-3FA292FCCDF2}" srcOrd="1" destOrd="0" presId="urn:microsoft.com/office/officeart/2008/layout/LinedList"/>
    <dgm:cxn modelId="{5A12BD12-2617-4C8A-A818-31C28117307D}" type="presParOf" srcId="{DF7331EF-60BE-4AB9-AD4C-12596497F1B2}" destId="{A802512C-2036-48CC-B345-641C37FF11DB}" srcOrd="2" destOrd="0" presId="urn:microsoft.com/office/officeart/2008/layout/LinedList"/>
    <dgm:cxn modelId="{3AC76DDD-BCBB-4F3D-B58A-F9567BA44A8D}" type="presParOf" srcId="{DF7331EF-60BE-4AB9-AD4C-12596497F1B2}" destId="{4C536273-289C-446B-8C9D-AEA05FC371E0}" srcOrd="3" destOrd="0" presId="urn:microsoft.com/office/officeart/2008/layout/LinedList"/>
    <dgm:cxn modelId="{8D6628CF-D0D1-4401-962C-068629D92C15}" type="presParOf" srcId="{4C536273-289C-446B-8C9D-AEA05FC371E0}" destId="{325A7150-9480-4056-8C22-6B12DE8B61B9}" srcOrd="0" destOrd="0" presId="urn:microsoft.com/office/officeart/2008/layout/LinedList"/>
    <dgm:cxn modelId="{C6BF703E-B36A-4AAE-B983-8A8CDC79C7CC}" type="presParOf" srcId="{4C536273-289C-446B-8C9D-AEA05FC371E0}" destId="{9A86300C-5D9E-4D9A-ABFF-DFAEE760A0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F5B234-3912-4C6A-BB43-DEB7136E9B21}" type="doc">
      <dgm:prSet loTypeId="urn:microsoft.com/office/officeart/2005/8/layout/matrix3" loCatId="matrix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55779CB-653C-413D-B59D-929AA3B400E7}">
      <dgm:prSet/>
      <dgm:spPr/>
      <dgm:t>
        <a:bodyPr/>
        <a:lstStyle/>
        <a:p>
          <a:r>
            <a:rPr lang="en-US" dirty="0"/>
            <a:t>CountVectorizer</a:t>
          </a:r>
        </a:p>
        <a:p>
          <a:endParaRPr lang="en-US" dirty="0"/>
        </a:p>
      </dgm:t>
    </dgm:pt>
    <dgm:pt modelId="{52EB4391-5C16-44B3-9D2C-DAEDAC95DB43}" type="parTrans" cxnId="{91EDEA04-EC5F-4466-BF97-3952859400F6}">
      <dgm:prSet/>
      <dgm:spPr/>
      <dgm:t>
        <a:bodyPr/>
        <a:lstStyle/>
        <a:p>
          <a:endParaRPr lang="en-US"/>
        </a:p>
      </dgm:t>
    </dgm:pt>
    <dgm:pt modelId="{9F5C0D14-BD93-4AD0-A920-8FAF20EA5E7C}" type="sibTrans" cxnId="{91EDEA04-EC5F-4466-BF97-3952859400F6}">
      <dgm:prSet/>
      <dgm:spPr/>
      <dgm:t>
        <a:bodyPr/>
        <a:lstStyle/>
        <a:p>
          <a:endParaRPr lang="en-US"/>
        </a:p>
      </dgm:t>
    </dgm:pt>
    <dgm:pt modelId="{F1C7F720-931C-4A2A-A793-480F7D93E871}">
      <dgm:prSet/>
      <dgm:spPr/>
      <dgm:t>
        <a:bodyPr/>
        <a:lstStyle/>
        <a:p>
          <a:r>
            <a:rPr lang="en-US" dirty="0"/>
            <a:t>Removed extra characters and meaningless words.</a:t>
          </a:r>
        </a:p>
      </dgm:t>
    </dgm:pt>
    <dgm:pt modelId="{F22A9D21-B0D1-439E-8F99-7AA2BD6119D7}" type="parTrans" cxnId="{159E4664-8BC7-4889-92CD-010FB85DE8D8}">
      <dgm:prSet/>
      <dgm:spPr/>
      <dgm:t>
        <a:bodyPr/>
        <a:lstStyle/>
        <a:p>
          <a:endParaRPr lang="en-US"/>
        </a:p>
      </dgm:t>
    </dgm:pt>
    <dgm:pt modelId="{D39AD217-A1A9-45D5-AFAC-58DCB67EBEF7}" type="sibTrans" cxnId="{159E4664-8BC7-4889-92CD-010FB85DE8D8}">
      <dgm:prSet/>
      <dgm:spPr/>
      <dgm:t>
        <a:bodyPr/>
        <a:lstStyle/>
        <a:p>
          <a:endParaRPr lang="en-US"/>
        </a:p>
      </dgm:t>
    </dgm:pt>
    <dgm:pt modelId="{B0601C35-CBB6-4093-BC95-0F394B84A93C}">
      <dgm:prSet/>
      <dgm:spPr/>
      <dgm:t>
        <a:bodyPr/>
        <a:lstStyle/>
        <a:p>
          <a:r>
            <a:rPr lang="en-US" dirty="0"/>
            <a:t>Such as quotes, extra letters coming between (‘b)</a:t>
          </a:r>
        </a:p>
      </dgm:t>
    </dgm:pt>
    <dgm:pt modelId="{B6C58567-13F1-4D8E-8741-0B3C0697E890}" type="parTrans" cxnId="{C8E5C17B-29C8-479D-8D03-D77C4FCAE262}">
      <dgm:prSet/>
      <dgm:spPr/>
      <dgm:t>
        <a:bodyPr/>
        <a:lstStyle/>
        <a:p>
          <a:endParaRPr lang="en-US"/>
        </a:p>
      </dgm:t>
    </dgm:pt>
    <dgm:pt modelId="{767F3D3B-D13F-4B4D-B74E-34655F1B5641}" type="sibTrans" cxnId="{C8E5C17B-29C8-479D-8D03-D77C4FCAE262}">
      <dgm:prSet/>
      <dgm:spPr/>
      <dgm:t>
        <a:bodyPr/>
        <a:lstStyle/>
        <a:p>
          <a:endParaRPr lang="en-US"/>
        </a:p>
      </dgm:t>
    </dgm:pt>
    <dgm:pt modelId="{7612EAF9-7CB9-4636-A73F-BA826C0EE637}">
      <dgm:prSet/>
      <dgm:spPr/>
      <dgm:t>
        <a:bodyPr/>
        <a:lstStyle/>
        <a:p>
          <a:r>
            <a:rPr lang="en-US" dirty="0"/>
            <a:t>Converted the words into lower case letters.</a:t>
          </a:r>
        </a:p>
      </dgm:t>
    </dgm:pt>
    <dgm:pt modelId="{A5BFF2AD-661A-425B-B829-C7BAB52065C0}" type="parTrans" cxnId="{AE359F03-2C37-467C-A9D3-852F7F54DFCF}">
      <dgm:prSet/>
      <dgm:spPr/>
      <dgm:t>
        <a:bodyPr/>
        <a:lstStyle/>
        <a:p>
          <a:endParaRPr lang="en-US"/>
        </a:p>
      </dgm:t>
    </dgm:pt>
    <dgm:pt modelId="{9F0E8341-2F90-46BC-8E32-5A995581E074}" type="sibTrans" cxnId="{AE359F03-2C37-467C-A9D3-852F7F54DFCF}">
      <dgm:prSet/>
      <dgm:spPr/>
      <dgm:t>
        <a:bodyPr/>
        <a:lstStyle/>
        <a:p>
          <a:endParaRPr lang="en-US"/>
        </a:p>
      </dgm:t>
    </dgm:pt>
    <dgm:pt modelId="{06150B3E-5B4A-4F3A-A894-C5726406CFE1}">
      <dgm:prSet/>
      <dgm:spPr/>
      <dgm:t>
        <a:bodyPr/>
        <a:lstStyle/>
        <a:p>
          <a:r>
            <a:rPr lang="en-US" dirty="0"/>
            <a:t>Divided the sentences into words and created a table with count of those words.</a:t>
          </a:r>
        </a:p>
      </dgm:t>
    </dgm:pt>
    <dgm:pt modelId="{5CEA07F6-D362-460F-A656-15EB42F4F0BE}" type="parTrans" cxnId="{D571EB4F-5569-460B-9BDD-43A7353689AD}">
      <dgm:prSet/>
      <dgm:spPr/>
      <dgm:t>
        <a:bodyPr/>
        <a:lstStyle/>
        <a:p>
          <a:endParaRPr lang="en-US"/>
        </a:p>
      </dgm:t>
    </dgm:pt>
    <dgm:pt modelId="{3ABBD781-02C9-4461-A562-2E0C580826B9}" type="sibTrans" cxnId="{D571EB4F-5569-460B-9BDD-43A7353689AD}">
      <dgm:prSet/>
      <dgm:spPr/>
      <dgm:t>
        <a:bodyPr/>
        <a:lstStyle/>
        <a:p>
          <a:endParaRPr lang="en-US"/>
        </a:p>
      </dgm:t>
    </dgm:pt>
    <dgm:pt modelId="{53459A3F-F006-4E51-9286-C5F65EB2A86C}" type="pres">
      <dgm:prSet presAssocID="{BBF5B234-3912-4C6A-BB43-DEB7136E9B21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4E924E6-C440-47ED-81F6-7F1C2C18D1B6}" type="pres">
      <dgm:prSet presAssocID="{BBF5B234-3912-4C6A-BB43-DEB7136E9B21}" presName="diamond" presStyleLbl="bgShp" presStyleIdx="0" presStyleCnt="1"/>
      <dgm:spPr/>
    </dgm:pt>
    <dgm:pt modelId="{E679F774-76D3-46C3-B547-D1C148D1E5C4}" type="pres">
      <dgm:prSet presAssocID="{BBF5B234-3912-4C6A-BB43-DEB7136E9B21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C04EC04-87E1-42C8-A5D8-6321E4DEF8F4}" type="pres">
      <dgm:prSet presAssocID="{BBF5B234-3912-4C6A-BB43-DEB7136E9B21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0AE0843-FDD6-4FCA-AF87-2F3B7F0A503C}" type="pres">
      <dgm:prSet presAssocID="{BBF5B234-3912-4C6A-BB43-DEB7136E9B21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BDC201F-4679-4C12-A3F0-1F8229CDB597}" type="pres">
      <dgm:prSet presAssocID="{BBF5B234-3912-4C6A-BB43-DEB7136E9B21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59E4664-8BC7-4889-92CD-010FB85DE8D8}" srcId="{BBF5B234-3912-4C6A-BB43-DEB7136E9B21}" destId="{F1C7F720-931C-4A2A-A793-480F7D93E871}" srcOrd="1" destOrd="0" parTransId="{F22A9D21-B0D1-439E-8F99-7AA2BD6119D7}" sibTransId="{D39AD217-A1A9-45D5-AFAC-58DCB67EBEF7}"/>
    <dgm:cxn modelId="{91EDEA04-EC5F-4466-BF97-3952859400F6}" srcId="{BBF5B234-3912-4C6A-BB43-DEB7136E9B21}" destId="{655779CB-653C-413D-B59D-929AA3B400E7}" srcOrd="0" destOrd="0" parTransId="{52EB4391-5C16-44B3-9D2C-DAEDAC95DB43}" sibTransId="{9F5C0D14-BD93-4AD0-A920-8FAF20EA5E7C}"/>
    <dgm:cxn modelId="{901D159F-CAC1-4283-A04F-18A7F90F3032}" type="presOf" srcId="{06150B3E-5B4A-4F3A-A894-C5726406CFE1}" destId="{5BDC201F-4679-4C12-A3F0-1F8229CDB597}" srcOrd="0" destOrd="0" presId="urn:microsoft.com/office/officeart/2005/8/layout/matrix3"/>
    <dgm:cxn modelId="{D4413FA9-37DE-4302-8F2D-78844207C91B}" type="presOf" srcId="{655779CB-653C-413D-B59D-929AA3B400E7}" destId="{E679F774-76D3-46C3-B547-D1C148D1E5C4}" srcOrd="0" destOrd="0" presId="urn:microsoft.com/office/officeart/2005/8/layout/matrix3"/>
    <dgm:cxn modelId="{C8E5C17B-29C8-479D-8D03-D77C4FCAE262}" srcId="{F1C7F720-931C-4A2A-A793-480F7D93E871}" destId="{B0601C35-CBB6-4093-BC95-0F394B84A93C}" srcOrd="0" destOrd="0" parTransId="{B6C58567-13F1-4D8E-8741-0B3C0697E890}" sibTransId="{767F3D3B-D13F-4B4D-B74E-34655F1B5641}"/>
    <dgm:cxn modelId="{AE359F03-2C37-467C-A9D3-852F7F54DFCF}" srcId="{BBF5B234-3912-4C6A-BB43-DEB7136E9B21}" destId="{7612EAF9-7CB9-4636-A73F-BA826C0EE637}" srcOrd="2" destOrd="0" parTransId="{A5BFF2AD-661A-425B-B829-C7BAB52065C0}" sibTransId="{9F0E8341-2F90-46BC-8E32-5A995581E074}"/>
    <dgm:cxn modelId="{D571EB4F-5569-460B-9BDD-43A7353689AD}" srcId="{BBF5B234-3912-4C6A-BB43-DEB7136E9B21}" destId="{06150B3E-5B4A-4F3A-A894-C5726406CFE1}" srcOrd="3" destOrd="0" parTransId="{5CEA07F6-D362-460F-A656-15EB42F4F0BE}" sibTransId="{3ABBD781-02C9-4461-A562-2E0C580826B9}"/>
    <dgm:cxn modelId="{443E7AB5-5710-42FC-A8A7-8CAE2812F7EF}" type="presOf" srcId="{B0601C35-CBB6-4093-BC95-0F394B84A93C}" destId="{AC04EC04-87E1-42C8-A5D8-6321E4DEF8F4}" srcOrd="0" destOrd="1" presId="urn:microsoft.com/office/officeart/2005/8/layout/matrix3"/>
    <dgm:cxn modelId="{A3B99ECD-4C7C-41F9-8FEE-45F72F701C7E}" type="presOf" srcId="{BBF5B234-3912-4C6A-BB43-DEB7136E9B21}" destId="{53459A3F-F006-4E51-9286-C5F65EB2A86C}" srcOrd="0" destOrd="0" presId="urn:microsoft.com/office/officeart/2005/8/layout/matrix3"/>
    <dgm:cxn modelId="{EB3B487C-F781-40A2-A6BA-19F31CB1877D}" type="presOf" srcId="{7612EAF9-7CB9-4636-A73F-BA826C0EE637}" destId="{40AE0843-FDD6-4FCA-AF87-2F3B7F0A503C}" srcOrd="0" destOrd="0" presId="urn:microsoft.com/office/officeart/2005/8/layout/matrix3"/>
    <dgm:cxn modelId="{9C8037BC-5AC1-4076-8C61-35A5F3E31F98}" type="presOf" srcId="{F1C7F720-931C-4A2A-A793-480F7D93E871}" destId="{AC04EC04-87E1-42C8-A5D8-6321E4DEF8F4}" srcOrd="0" destOrd="0" presId="urn:microsoft.com/office/officeart/2005/8/layout/matrix3"/>
    <dgm:cxn modelId="{4D3B9153-3CCE-4960-A91C-76482994094D}" type="presParOf" srcId="{53459A3F-F006-4E51-9286-C5F65EB2A86C}" destId="{84E924E6-C440-47ED-81F6-7F1C2C18D1B6}" srcOrd="0" destOrd="0" presId="urn:microsoft.com/office/officeart/2005/8/layout/matrix3"/>
    <dgm:cxn modelId="{364B998F-4237-4ABF-996F-3EFDBD5D4A06}" type="presParOf" srcId="{53459A3F-F006-4E51-9286-C5F65EB2A86C}" destId="{E679F774-76D3-46C3-B547-D1C148D1E5C4}" srcOrd="1" destOrd="0" presId="urn:microsoft.com/office/officeart/2005/8/layout/matrix3"/>
    <dgm:cxn modelId="{EBE5B801-AFD9-439A-BA73-180D8A3C6C6B}" type="presParOf" srcId="{53459A3F-F006-4E51-9286-C5F65EB2A86C}" destId="{AC04EC04-87E1-42C8-A5D8-6321E4DEF8F4}" srcOrd="2" destOrd="0" presId="urn:microsoft.com/office/officeart/2005/8/layout/matrix3"/>
    <dgm:cxn modelId="{D58AD616-3494-4717-814D-4B5C9434F28F}" type="presParOf" srcId="{53459A3F-F006-4E51-9286-C5F65EB2A86C}" destId="{40AE0843-FDD6-4FCA-AF87-2F3B7F0A503C}" srcOrd="3" destOrd="0" presId="urn:microsoft.com/office/officeart/2005/8/layout/matrix3"/>
    <dgm:cxn modelId="{4E52EBB2-7665-46FD-B3D4-6A653FF4B193}" type="presParOf" srcId="{53459A3F-F006-4E51-9286-C5F65EB2A86C}" destId="{5BDC201F-4679-4C12-A3F0-1F8229CDB59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78DCE-E3B8-4783-8F38-511FE08BF8B0}">
      <dsp:nvSpPr>
        <dsp:cNvPr id="0" name=""/>
        <dsp:cNvSpPr/>
      </dsp:nvSpPr>
      <dsp:spPr>
        <a:xfrm>
          <a:off x="0" y="113433"/>
          <a:ext cx="6089650" cy="12866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Dataset contains top 25 headlines of each day’s news from </a:t>
          </a:r>
          <a:r>
            <a:rPr lang="en-GB" sz="2300" kern="1200" dirty="0" smtClean="0"/>
            <a:t>2000-07-01 </a:t>
          </a:r>
          <a:r>
            <a:rPr lang="en-GB" sz="2300" kern="1200" dirty="0"/>
            <a:t>to 2016-07-01 </a:t>
          </a:r>
          <a:endParaRPr lang="en-US" sz="2300" kern="1200" dirty="0"/>
        </a:p>
      </dsp:txBody>
      <dsp:txXfrm>
        <a:off x="62808" y="176241"/>
        <a:ext cx="5964034" cy="1161018"/>
      </dsp:txXfrm>
    </dsp:sp>
    <dsp:sp modelId="{9680E26C-B929-4E36-8DDE-0AC0E127A4DA}">
      <dsp:nvSpPr>
        <dsp:cNvPr id="0" name=""/>
        <dsp:cNvSpPr/>
      </dsp:nvSpPr>
      <dsp:spPr>
        <a:xfrm>
          <a:off x="0" y="1466308"/>
          <a:ext cx="6089650" cy="12866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News articles are acquired from </a:t>
          </a:r>
          <a:r>
            <a:rPr lang="en-US" sz="2300" kern="1200" dirty="0" err="1"/>
            <a:t>Reddit</a:t>
          </a:r>
          <a:r>
            <a:rPr lang="en-US" sz="2300" kern="1200" dirty="0"/>
            <a:t> News and Stocks data is of DJIA (Dow Jones Industrial Average) acquired from Yahoo Finance</a:t>
          </a:r>
        </a:p>
      </dsp:txBody>
      <dsp:txXfrm>
        <a:off x="62808" y="1529116"/>
        <a:ext cx="5964034" cy="1161018"/>
      </dsp:txXfrm>
    </dsp:sp>
    <dsp:sp modelId="{2B850D51-156F-47B4-8101-3F221F417B55}">
      <dsp:nvSpPr>
        <dsp:cNvPr id="0" name=""/>
        <dsp:cNvSpPr/>
      </dsp:nvSpPr>
      <dsp:spPr>
        <a:xfrm>
          <a:off x="0" y="2819182"/>
          <a:ext cx="6089650" cy="12866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News headlines are ranked from top to bottom on the basis of reddit users’ votes</a:t>
          </a:r>
        </a:p>
      </dsp:txBody>
      <dsp:txXfrm>
        <a:off x="62808" y="2881990"/>
        <a:ext cx="5964034" cy="1161018"/>
      </dsp:txXfrm>
    </dsp:sp>
    <dsp:sp modelId="{2B4B0B1C-5DFA-4832-84BE-3B34277B6BDB}">
      <dsp:nvSpPr>
        <dsp:cNvPr id="0" name=""/>
        <dsp:cNvSpPr/>
      </dsp:nvSpPr>
      <dsp:spPr>
        <a:xfrm>
          <a:off x="0" y="4172056"/>
          <a:ext cx="6089650" cy="12866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News and DJIA have been combined to form a single dataset with its columns as: Date, Label, Top 1 up to Top 25</a:t>
          </a:r>
        </a:p>
      </dsp:txBody>
      <dsp:txXfrm>
        <a:off x="62808" y="4234864"/>
        <a:ext cx="5964034" cy="11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CDB96-E9CD-4D7E-92A5-2B9D7908C298}">
      <dsp:nvSpPr>
        <dsp:cNvPr id="0" name=""/>
        <dsp:cNvSpPr/>
      </dsp:nvSpPr>
      <dsp:spPr>
        <a:xfrm>
          <a:off x="258762" y="0"/>
          <a:ext cx="5572125" cy="557212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6AC79-3E66-45AC-9947-909A9D017116}">
      <dsp:nvSpPr>
        <dsp:cNvPr id="0" name=""/>
        <dsp:cNvSpPr/>
      </dsp:nvSpPr>
      <dsp:spPr>
        <a:xfrm>
          <a:off x="620950" y="362188"/>
          <a:ext cx="2228850" cy="2228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Date: date of each day of the news</a:t>
          </a:r>
        </a:p>
      </dsp:txBody>
      <dsp:txXfrm>
        <a:off x="729753" y="470991"/>
        <a:ext cx="2011244" cy="2011244"/>
      </dsp:txXfrm>
    </dsp:sp>
    <dsp:sp modelId="{CF482D40-E46C-4C97-8770-5E89E96A2126}">
      <dsp:nvSpPr>
        <dsp:cNvPr id="0" name=""/>
        <dsp:cNvSpPr/>
      </dsp:nvSpPr>
      <dsp:spPr>
        <a:xfrm>
          <a:off x="3239849" y="362188"/>
          <a:ext cx="2228850" cy="2228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Label: 1 or 0,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“1” when DJIA close value rose or stayed at same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“0” when DJIA close value decreased</a:t>
          </a:r>
        </a:p>
      </dsp:txBody>
      <dsp:txXfrm>
        <a:off x="3348652" y="470991"/>
        <a:ext cx="2011244" cy="2011244"/>
      </dsp:txXfrm>
    </dsp:sp>
    <dsp:sp modelId="{9501B38D-A2BF-4FDA-A5A3-8E1DCF0CDC53}">
      <dsp:nvSpPr>
        <dsp:cNvPr id="0" name=""/>
        <dsp:cNvSpPr/>
      </dsp:nvSpPr>
      <dsp:spPr>
        <a:xfrm>
          <a:off x="620950" y="2981086"/>
          <a:ext cx="2228850" cy="2228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Top 1: column that contains top 1 ranked news of that day</a:t>
          </a:r>
        </a:p>
      </dsp:txBody>
      <dsp:txXfrm>
        <a:off x="729753" y="3089889"/>
        <a:ext cx="2011244" cy="2011244"/>
      </dsp:txXfrm>
    </dsp:sp>
    <dsp:sp modelId="{2C18AE84-1576-4C06-97A9-072AA9B64CD9}">
      <dsp:nvSpPr>
        <dsp:cNvPr id="0" name=""/>
        <dsp:cNvSpPr/>
      </dsp:nvSpPr>
      <dsp:spPr>
        <a:xfrm>
          <a:off x="3239849" y="2981086"/>
          <a:ext cx="2228850" cy="2228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Top 2 to Top 25: columns that contain top 2 to top 25 ranked news from top to bottom on that day</a:t>
          </a:r>
        </a:p>
      </dsp:txBody>
      <dsp:txXfrm>
        <a:off x="3348652" y="3089889"/>
        <a:ext cx="2011244" cy="2011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8FCEB-B583-4B04-B645-A58C584DA8BD}">
      <dsp:nvSpPr>
        <dsp:cNvPr id="0" name=""/>
        <dsp:cNvSpPr/>
      </dsp:nvSpPr>
      <dsp:spPr>
        <a:xfrm>
          <a:off x="0" y="0"/>
          <a:ext cx="60896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74346B0-9229-404B-839D-F4731A2F41E1}">
      <dsp:nvSpPr>
        <dsp:cNvPr id="0" name=""/>
        <dsp:cNvSpPr/>
      </dsp:nvSpPr>
      <dsp:spPr>
        <a:xfrm>
          <a:off x="0" y="0"/>
          <a:ext cx="6089650" cy="278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Combined all the sentences in a row to a single string.</a:t>
          </a:r>
        </a:p>
      </dsp:txBody>
      <dsp:txXfrm>
        <a:off x="0" y="0"/>
        <a:ext cx="6089650" cy="2786062"/>
      </dsp:txXfrm>
    </dsp:sp>
    <dsp:sp modelId="{A802512C-2036-48CC-B345-641C37FF11DB}">
      <dsp:nvSpPr>
        <dsp:cNvPr id="0" name=""/>
        <dsp:cNvSpPr/>
      </dsp:nvSpPr>
      <dsp:spPr>
        <a:xfrm>
          <a:off x="0" y="2786062"/>
          <a:ext cx="60896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5A7150-9480-4056-8C22-6B12DE8B61B9}">
      <dsp:nvSpPr>
        <dsp:cNvPr id="0" name=""/>
        <dsp:cNvSpPr/>
      </dsp:nvSpPr>
      <dsp:spPr>
        <a:xfrm>
          <a:off x="0" y="2786062"/>
          <a:ext cx="6089650" cy="278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Then used CountVectorizer function to preprocess the data.</a:t>
          </a:r>
        </a:p>
      </dsp:txBody>
      <dsp:txXfrm>
        <a:off x="0" y="2786062"/>
        <a:ext cx="6089650" cy="27860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924E6-C440-47ED-81F6-7F1C2C18D1B6}">
      <dsp:nvSpPr>
        <dsp:cNvPr id="0" name=""/>
        <dsp:cNvSpPr/>
      </dsp:nvSpPr>
      <dsp:spPr>
        <a:xfrm>
          <a:off x="258762" y="0"/>
          <a:ext cx="5572125" cy="557212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9F774-76D3-46C3-B547-D1C148D1E5C4}">
      <dsp:nvSpPr>
        <dsp:cNvPr id="0" name=""/>
        <dsp:cNvSpPr/>
      </dsp:nvSpPr>
      <dsp:spPr>
        <a:xfrm>
          <a:off x="788114" y="529351"/>
          <a:ext cx="2173128" cy="217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CountVectorizer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 dirty="0"/>
        </a:p>
      </dsp:txBody>
      <dsp:txXfrm>
        <a:off x="894197" y="635434"/>
        <a:ext cx="1960962" cy="1960962"/>
      </dsp:txXfrm>
    </dsp:sp>
    <dsp:sp modelId="{AC04EC04-87E1-42C8-A5D8-6321E4DEF8F4}">
      <dsp:nvSpPr>
        <dsp:cNvPr id="0" name=""/>
        <dsp:cNvSpPr/>
      </dsp:nvSpPr>
      <dsp:spPr>
        <a:xfrm>
          <a:off x="3128406" y="529351"/>
          <a:ext cx="2173128" cy="217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Removed extra characters and meaningless words.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/>
            <a:t>Such as quotes, extra letters coming between (‘b)</a:t>
          </a:r>
        </a:p>
      </dsp:txBody>
      <dsp:txXfrm>
        <a:off x="3234489" y="635434"/>
        <a:ext cx="1960962" cy="1960962"/>
      </dsp:txXfrm>
    </dsp:sp>
    <dsp:sp modelId="{40AE0843-FDD6-4FCA-AF87-2F3B7F0A503C}">
      <dsp:nvSpPr>
        <dsp:cNvPr id="0" name=""/>
        <dsp:cNvSpPr/>
      </dsp:nvSpPr>
      <dsp:spPr>
        <a:xfrm>
          <a:off x="788114" y="2869644"/>
          <a:ext cx="2173128" cy="217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Converted the words into lower case letters.</a:t>
          </a:r>
        </a:p>
      </dsp:txBody>
      <dsp:txXfrm>
        <a:off x="894197" y="2975727"/>
        <a:ext cx="1960962" cy="1960962"/>
      </dsp:txXfrm>
    </dsp:sp>
    <dsp:sp modelId="{5BDC201F-4679-4C12-A3F0-1F8229CDB597}">
      <dsp:nvSpPr>
        <dsp:cNvPr id="0" name=""/>
        <dsp:cNvSpPr/>
      </dsp:nvSpPr>
      <dsp:spPr>
        <a:xfrm>
          <a:off x="3128406" y="2869644"/>
          <a:ext cx="2173128" cy="217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Divided the sentences into words and created a table with count of those words.</a:t>
          </a:r>
        </a:p>
      </dsp:txBody>
      <dsp:txXfrm>
        <a:off x="3234489" y="2975727"/>
        <a:ext cx="1960962" cy="1960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4E1E6B-88BD-464B-A596-B6EE3E57E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5D7C607-5E57-48A5-AD0B-98C3E3700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B3234B-CBCC-4471-A577-373D28D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DCC310-98AA-4195-ADD4-206233CA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440C87-8ACF-4EFA-8DDB-78B12C0C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82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162591-FAD5-4F08-9EF3-B98856E7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67C5BE-0F0D-4B41-BCF7-4D325DF72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7F5626-708F-4017-889E-43D4726D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91FDAA-EE50-4CC0-925E-4F27FE3B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448A70-49C9-4DBA-94B3-9C3D9890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7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A90D37-95D0-45BC-8224-76D6D4D0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509B171-30D9-486B-8E59-7D3936F6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0F2CF8-26A6-4D81-BFF3-EC618788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46A6E9-146C-4F01-9696-0619C7FDA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DD5E7C-04B8-4AE5-8730-E78F13B3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98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8C66A-551B-43E4-8210-043EF3FB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0935E4-CB88-460B-BBCC-066A57CF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3878E6C-BAFD-43AC-A669-AE323CA2B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7CB020D-0F8B-4A24-8575-B703A6E6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EEF5FD8-C147-4FB2-960E-DB70BB6C6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8212842-7D61-4507-8D0F-1D473CE8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21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DBFE5-41EE-4C01-92BC-B5DB4326C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C08928-8576-4F9F-81D8-DB5EE1424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5DE1103-069F-4FD6-B690-50D4D28AC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E55BBA5-EA1F-4FA3-8F11-BA30E492A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B9C169D-D9B1-43D4-A356-29B06DC15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F3DC778-36CD-4F53-963D-526952B5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A32AD99-BCF1-45DF-BB1D-BAFEF41E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3C11CE7-BBA0-4C97-A857-293AB2D6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22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35899-246F-45F1-A2B4-2E5D55F1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065C832-265B-48FD-A3E0-EF520B22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378665-F918-41DE-BB84-7054A069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AD7D9E9-8C87-4B54-B50B-B857AD02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5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4767F2A-9847-43ED-9B1A-C3BD0C41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4F757F8-B53F-4086-9C9F-CCF2D6E7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FB7C4F-2AE4-45AF-8744-294946D4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6F7CF1-15F4-4068-A0C5-9E78F47E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499775-3BA2-480A-AAFF-428D7188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2DB42D-3690-4AF0-B42B-8149007D9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65FF2C-D233-4974-8C71-95F8DBAD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989876F-1422-4C4B-A29E-DB53AAF5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B52CB6-C0A8-45BE-921A-4CC65B5A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63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C6DC9A-848B-4C06-B923-C372EB69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CA1151A-208C-46A0-9321-B407DA105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94E922-A794-4106-BE32-96A3C6C02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95DAE13-92DE-4417-9A94-69737C16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7789F9-239C-48D3-B21C-03F3E0DD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1DD98-2EDD-4753-8C88-F22CA014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0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35BA29-933B-4898-B687-2DA8A601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85898D7-C7E4-4483-AD83-14756F4B2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D0D9EA-3CC4-4197-8776-1B8CFE11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E5CD5A-97A0-4E83-9E35-A21C0A54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F385871-81A8-4D51-950F-AB85CA66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67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E3D18D2-1A40-4F49-B7CC-31190E6CE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1B37AE2-4A43-4336-90E3-3F9A01362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E676A7-838F-4C03-88E2-889251F4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0B5774-0218-4EBB-849B-867C5BEB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FADA5D-EDA7-493E-B3B6-2920914C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01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ABEAE8D-D0B0-4068-9B38-2AE51725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308858-1F99-47FA-92F5-ABB767A6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8F6EFCD-37DE-4D41-A76B-4AB7FB520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CE330-7585-40B4-9D55-D51FDBB2A6DB}" type="datetimeFigureOut">
              <a:rPr lang="en-GB" smtClean="0"/>
              <a:t>26/04/2019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17F287-4E52-4176-BCA1-A0ECBF748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09AAB9-051F-45CB-825C-BE97F9B80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9DFD8-7E49-4068-9346-AE978ABCF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21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tock market">
            <a:extLst>
              <a:ext uri="{FF2B5EF4-FFF2-40B4-BE49-F238E27FC236}">
                <a16:creationId xmlns:a16="http://schemas.microsoft.com/office/drawing/2014/main" xmlns="" id="{C0A4E8BA-A5EB-4FF1-B0C4-63BFE24AA4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3" r="3378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45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7">
            <a:extLst>
              <a:ext uri="{FF2B5EF4-FFF2-40B4-BE49-F238E27FC236}">
                <a16:creationId xmlns:a16="http://schemas.microsoft.com/office/drawing/2014/main" xmlns="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xmlns="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xmlns="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xmlns="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27" name="Rectangle 12">
            <a:extLst>
              <a:ext uri="{FF2B5EF4-FFF2-40B4-BE49-F238E27FC236}">
                <a16:creationId xmlns:a16="http://schemas.microsoft.com/office/drawing/2014/main" xmlns="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050F9A-ADE6-4830-B4C7-E8D5B5A9C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Stock market prediction using news headlines</a:t>
            </a:r>
            <a:endParaRPr lang="en-GB" sz="40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4F3A092-D6EA-4496-88AC-BDC24F5DB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1225062"/>
          </a:xfrm>
        </p:spPr>
        <p:txBody>
          <a:bodyPr>
            <a:normAutofit/>
          </a:bodyPr>
          <a:lstStyle/>
          <a:p>
            <a:r>
              <a:rPr lang="en-US" sz="1800" dirty="0"/>
              <a:t>01FB16ECS153 – </a:t>
            </a:r>
            <a:r>
              <a:rPr lang="en-US" sz="1800" dirty="0" err="1"/>
              <a:t>Siddharth</a:t>
            </a:r>
            <a:r>
              <a:rPr lang="en-US" sz="1800" dirty="0"/>
              <a:t> </a:t>
            </a:r>
            <a:r>
              <a:rPr lang="en-US" sz="1800" dirty="0" smtClean="0"/>
              <a:t>K</a:t>
            </a:r>
          </a:p>
          <a:p>
            <a:r>
              <a:rPr lang="en-US" sz="1800" dirty="0"/>
              <a:t>01FB16ECS151 </a:t>
            </a:r>
            <a:r>
              <a:rPr lang="en-US" sz="1800" dirty="0" smtClean="0"/>
              <a:t>– K </a:t>
            </a:r>
            <a:r>
              <a:rPr lang="en-US" sz="1800" dirty="0"/>
              <a:t>Rahul </a:t>
            </a:r>
            <a:r>
              <a:rPr lang="en-US" sz="1800" dirty="0" err="1"/>
              <a:t>Kudva</a:t>
            </a:r>
            <a:endParaRPr lang="en-US" sz="1800" dirty="0" smtClean="0"/>
          </a:p>
          <a:p>
            <a:r>
              <a:rPr lang="en-US" sz="1800" dirty="0" smtClean="0"/>
              <a:t>01FB16ECS132 – </a:t>
            </a:r>
            <a:r>
              <a:rPr lang="en-US" sz="1800" dirty="0" err="1" smtClean="0"/>
              <a:t>Harshith</a:t>
            </a:r>
            <a:r>
              <a:rPr lang="en-US" sz="1800" dirty="0" smtClean="0"/>
              <a:t>  P S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92205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8A740BC-A0AA-45E0-B899-2AE9C6FE11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874EF51-C858-4BB9-97C3-D1775578712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 dirty="0"/>
              <a:t>Problem definition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historical news, predicting the stock market movement</a:t>
            </a:r>
          </a:p>
          <a:p>
            <a:r>
              <a:rPr lang="en-US" dirty="0"/>
              <a:t>Stock prices are usually determined based on supply and demand</a:t>
            </a:r>
          </a:p>
          <a:p>
            <a:r>
              <a:rPr lang="en-US" dirty="0"/>
              <a:t>Negative news will normally cause individuals to sell stocks, this will cause in a decrease in the price of a stock</a:t>
            </a:r>
          </a:p>
          <a:p>
            <a:r>
              <a:rPr lang="en-US" dirty="0"/>
              <a:t>Positive news will normally cause individuals to buy stocks, this will cause in an increase in the price of a stock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52030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8A740BC-A0AA-45E0-B899-2AE9C6FE11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Arrow Connector 9">
            <a:extLst>
              <a:ext uri="{FF2B5EF4-FFF2-40B4-BE49-F238E27FC236}">
                <a16:creationId xmlns:a16="http://schemas.microsoft.com/office/drawing/2014/main" xmlns="" id="{B874EF51-C858-4BB9-97C3-D1775578712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/>
              <a:t>Overview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Negative news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“The S&amp;P 500 fell for a third straight day after President Donald Trump said the U.S. would slap tariffs on steel and aluminum. As Fred Katayama reports, that sparked fears of higher prices and a trade war.”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7841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8A740BC-A0AA-45E0-B899-2AE9C6FE11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874EF51-C858-4BB9-97C3-D1775578712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/>
              <a:t>Overview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Positive news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“The Dow soared 257 points and brushed up against lifetime highs, as investors came to term with win for Donald Trump in the US Presidential election. The S&amp;P 500 and the Nasdaq rose 1.1 per cent apiece.”</a:t>
            </a:r>
          </a:p>
        </p:txBody>
      </p:sp>
    </p:spTree>
    <p:extLst>
      <p:ext uri="{BB962C8B-B14F-4D97-AF65-F5344CB8AC3E}">
        <p14:creationId xmlns:p14="http://schemas.microsoft.com/office/powerpoint/2010/main" val="3016626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BE95D989-81FA-4BAD-9AD5-E46CEDA91B3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xmlns="" id="{156189E5-8A3E-4CFD-B71B-CCD0F8495E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Dataset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1FAEB8D-5F37-4C1A-AA5C-554FDB17C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992031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483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A4AC5506-6312-4701-8D3C-40187889A9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72E0EF3-A045-458E-AEDD-9BAC698D1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25215"/>
            <a:ext cx="10905066" cy="4294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85790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xmlns="" id="{BE95D989-81FA-4BAD-9AD5-E46CEDA91B3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xmlns="" id="{156189E5-8A3E-4CFD-B71B-CCD0F8495E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Dataset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xmlns="" id="{5853FBC2-B476-4EBD-86E6-EAFEAE71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541749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642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8A740BC-A0AA-45E0-B899-2AE9C6FE11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874EF51-C858-4BB9-97C3-D1775578712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 dirty="0"/>
              <a:t>Dataset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705" y="2644524"/>
            <a:ext cx="9013052" cy="332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Sample news: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 1 news on 8/8/08: </a:t>
            </a:r>
          </a:p>
          <a:p>
            <a:pPr marL="0" indent="0">
              <a:buNone/>
            </a:pPr>
            <a:r>
              <a:rPr lang="en-US" i="1" dirty="0" err="1"/>
              <a:t>b"Georgia</a:t>
            </a:r>
            <a:r>
              <a:rPr lang="en-US" i="1" dirty="0"/>
              <a:t> 'downs two Russian warplanes' as countries move to brink of war"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687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xmlns="" id="{BE95D989-81FA-4BAD-9AD5-E46CEDA91B3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xmlns="" id="{156189E5-8A3E-4CFD-B71B-CCD0F8495E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Preprocessing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E383CD6E-A595-4740-AF7D-B7BD571D0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423004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41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xmlns="" id="{BE95D989-81FA-4BAD-9AD5-E46CEDA91B3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xmlns="" id="{156189E5-8A3E-4CFD-B71B-CCD0F8495E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 Preprocessing</a:t>
            </a:r>
            <a:endParaRPr lang="en-GB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92A5D60-C230-4D2F-A714-A457270FE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290158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xmlns="" id="{D6B9B736-4F19-4346-A66C-50978DE2FEFC}"/>
              </a:ext>
            </a:extLst>
          </p:cNvPr>
          <p:cNvSpPr/>
          <p:nvPr/>
        </p:nvSpPr>
        <p:spPr>
          <a:xfrm>
            <a:off x="7027015" y="2256628"/>
            <a:ext cx="627797" cy="382137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379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8A740BC-A0AA-45E0-B899-2AE9C6FE11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Arrow Connector 9">
            <a:extLst>
              <a:ext uri="{FF2B5EF4-FFF2-40B4-BE49-F238E27FC236}">
                <a16:creationId xmlns:a16="http://schemas.microsoft.com/office/drawing/2014/main" xmlns="" id="{B874EF51-C858-4BB9-97C3-D1775578712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/>
              <a:t>Exploratory data analysis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>
            <a:normAutofit/>
          </a:bodyPr>
          <a:lstStyle/>
          <a:p>
            <a:r>
              <a:rPr lang="en-US" sz="2400" dirty="0"/>
              <a:t>Data is divided into 2 parts based on labels</a:t>
            </a:r>
          </a:p>
          <a:p>
            <a:pPr lvl="1"/>
            <a:r>
              <a:rPr lang="en-US" dirty="0"/>
              <a:t>Top 1 to top 25 news are combined for entire data labeled with “0” i.e., news that had negative impact on stocks </a:t>
            </a:r>
          </a:p>
          <a:p>
            <a:pPr lvl="1"/>
            <a:r>
              <a:rPr lang="en-US" dirty="0"/>
              <a:t>Top 1 to top 25 news are combined for entire data labeled with “1” i.e., news that had positive or no impact</a:t>
            </a:r>
          </a:p>
          <a:p>
            <a:r>
              <a:rPr lang="en-US" sz="2400" dirty="0"/>
              <a:t>Word clouds for both the parts are created to check the impact of words that had more influence on the stocks</a:t>
            </a:r>
          </a:p>
        </p:txBody>
      </p:sp>
    </p:spTree>
    <p:extLst>
      <p:ext uri="{BB962C8B-B14F-4D97-AF65-F5344CB8AC3E}">
        <p14:creationId xmlns:p14="http://schemas.microsoft.com/office/powerpoint/2010/main" val="3052421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xmlns="" id="{867D4867-5BA7-4462-B2F6-A23F4A622AA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F0CBA1C-EC4A-4831-9347-DB8E7430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63" y="2328959"/>
            <a:ext cx="6953429" cy="35462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Exploratory data analysis</a:t>
            </a: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2963" y="1225773"/>
            <a:ext cx="3363974" cy="432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Positive word cloud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09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xmlns="" id="{867D4867-5BA7-4462-B2F6-A23F4A622AA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A50EA3C-05F9-4995-B116-47B4C30F0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148" y="2254034"/>
            <a:ext cx="7164410" cy="3671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Exploratory data analysis</a:t>
            </a: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79" y="1023069"/>
            <a:ext cx="3363974" cy="419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Negative word cloud</a:t>
            </a:r>
          </a:p>
          <a:p>
            <a:pPr lvl="1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10517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0">
            <a:extLst>
              <a:ext uri="{FF2B5EF4-FFF2-40B4-BE49-F238E27FC236}">
                <a16:creationId xmlns:a16="http://schemas.microsoft.com/office/drawing/2014/main" xmlns="" id="{E186B68C-84BC-4A6E-99D1-EE87483C134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048949" y="450221"/>
            <a:ext cx="2115455" cy="1898903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xmlns="" id="{1C091803-41C2-48E0-9228-5148460C747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311418" y="450221"/>
            <a:ext cx="4421661" cy="5948858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xmlns="" id="{6166C6D1-23AC-49C4-BA07-238E4E9F8CE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2058" y="450221"/>
            <a:ext cx="4402377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775CD93-9DF2-48CB-9F57-1BCA9A46C7F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58921" y="4521269"/>
            <a:ext cx="6697525" cy="1877811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35D63C58-B85C-4F70-9F9A-DB6FD72A4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243078" y="2576514"/>
            <a:ext cx="1705848" cy="1705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762000"/>
            <a:ext cx="3759200" cy="33401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Baseline model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3" y="795548"/>
            <a:ext cx="3759198" cy="52756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Training and Testing datasets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Data is divided into 75/25 split based on dates</a:t>
            </a:r>
          </a:p>
          <a:p>
            <a:pPr marL="0" indent="0">
              <a:buNone/>
            </a:pPr>
            <a:r>
              <a:rPr lang="en-US" sz="2000" dirty="0"/>
              <a:t>Training data is from dates </a:t>
            </a:r>
            <a:r>
              <a:rPr lang="en-US" sz="2000" dirty="0" smtClean="0"/>
              <a:t>01/07/2000 </a:t>
            </a:r>
            <a:r>
              <a:rPr lang="en-US" sz="2000" dirty="0"/>
              <a:t>to </a:t>
            </a:r>
            <a:r>
              <a:rPr lang="en-US" sz="2000" dirty="0" smtClean="0"/>
              <a:t>12</a:t>
            </a:r>
            <a:r>
              <a:rPr lang="en-US" sz="2000" dirty="0" smtClean="0"/>
              <a:t>/31/2014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test data is from dates </a:t>
            </a:r>
            <a:r>
              <a:rPr lang="en-US" sz="2000" dirty="0" smtClean="0"/>
              <a:t>01/1/2015 </a:t>
            </a:r>
            <a:r>
              <a:rPr lang="en-US" sz="2000" dirty="0"/>
              <a:t>to 07/01/2016</a:t>
            </a:r>
          </a:p>
          <a:p>
            <a:pPr marL="0" indent="0">
              <a:buNone/>
            </a:pPr>
            <a:r>
              <a:rPr lang="en-US" sz="2000" dirty="0"/>
              <a:t>1492 records in train set and 497 records in test set</a:t>
            </a:r>
          </a:p>
        </p:txBody>
      </p:sp>
    </p:spTree>
    <p:extLst>
      <p:ext uri="{BB962C8B-B14F-4D97-AF65-F5344CB8AC3E}">
        <p14:creationId xmlns:p14="http://schemas.microsoft.com/office/powerpoint/2010/main" val="3553746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B336162-B533-4EFE-8BB3-8EBB4A5E32F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314384" cy="68580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45736"/>
            <a:ext cx="3698803" cy="1366528"/>
          </a:xfrm>
          <a:solidFill>
            <a:srgbClr val="FFFFFF"/>
          </a:solidFill>
          <a:ln w="25400" cap="sq">
            <a:solidFill>
              <a:srgbClr val="404040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rgbClr val="262626"/>
                </a:solidFill>
              </a:rPr>
              <a:t>Baseline model</a:t>
            </a:r>
            <a:endParaRPr lang="en-GB" sz="320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Logistic Regression</a:t>
            </a:r>
            <a:endParaRPr lang="en-US" sz="32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Statistical method that analyzes the data, in which there are one or more independent variables determines the outcome. The outcome has only two possible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Ex: to classify a boy or girl in data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IN" dirty="0" smtClean="0"/>
              <a:t>Log(p(y=1)/log(p-1)=</a:t>
            </a:r>
            <a:r>
              <a:rPr lang="el-GR" dirty="0" smtClean="0"/>
              <a:t>β</a:t>
            </a:r>
            <a:r>
              <a:rPr lang="en-IN" baseline="-25000" dirty="0" smtClean="0"/>
              <a:t>0</a:t>
            </a:r>
            <a:r>
              <a:rPr lang="en-IN" dirty="0" smtClean="0"/>
              <a:t>+</a:t>
            </a:r>
            <a:r>
              <a:rPr lang="el-GR" dirty="0"/>
              <a:t> </a:t>
            </a:r>
            <a:r>
              <a:rPr lang="el-GR" dirty="0" smtClean="0"/>
              <a:t>β</a:t>
            </a:r>
            <a:r>
              <a:rPr lang="en-IN" baseline="-25000" dirty="0" smtClean="0"/>
              <a:t>1</a:t>
            </a:r>
            <a:r>
              <a:rPr lang="en-IN" dirty="0" smtClean="0"/>
              <a:t>x</a:t>
            </a:r>
            <a:r>
              <a:rPr lang="en-IN" baseline="-25000" dirty="0" smtClean="0"/>
              <a:t>12</a:t>
            </a:r>
            <a:r>
              <a:rPr lang="en-IN" dirty="0" smtClean="0"/>
              <a:t>+…	+</a:t>
            </a:r>
            <a:r>
              <a:rPr lang="el-GR" dirty="0"/>
              <a:t> </a:t>
            </a:r>
            <a:r>
              <a:rPr lang="el-GR" dirty="0" smtClean="0"/>
              <a:t>β</a:t>
            </a:r>
            <a:r>
              <a:rPr lang="en-IN" baseline="-25000" dirty="0" err="1" smtClean="0"/>
              <a:t>p</a:t>
            </a:r>
            <a:r>
              <a:rPr lang="en-IN" dirty="0" err="1" smtClean="0"/>
              <a:t>x</a:t>
            </a:r>
            <a:r>
              <a:rPr lang="en-IN" baseline="-25000" dirty="0" err="1" smtClean="0"/>
              <a:t>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23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Baseline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Logistic Regression</a:t>
            </a:r>
          </a:p>
          <a:p>
            <a:pPr>
              <a:lnSpc>
                <a:spcPct val="150000"/>
              </a:lnSpc>
            </a:pPr>
            <a:r>
              <a:rPr lang="en-US" dirty="0"/>
              <a:t>Used bag of words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Or 1-gram model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Used </a:t>
            </a:r>
            <a:r>
              <a:rPr lang="en-US" dirty="0" err="1"/>
              <a:t>CountVectorizer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Accuracy</a:t>
            </a:r>
            <a:r>
              <a:rPr lang="en-US" dirty="0" smtClean="0"/>
              <a:t>: 82.2714 %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234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Top Corners Rounded 10">
            <a:extLst>
              <a:ext uri="{FF2B5EF4-FFF2-40B4-BE49-F238E27FC236}">
                <a16:creationId xmlns:a16="http://schemas.microsoft.com/office/drawing/2014/main" xmlns="" id="{B1E3044D-AD17-4052-A453-8AA654EFAB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6797978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 Single Corner Rectangle 22">
            <a:extLst>
              <a:ext uri="{FF2B5EF4-FFF2-40B4-BE49-F238E27FC236}">
                <a16:creationId xmlns:a16="http://schemas.microsoft.com/office/drawing/2014/main" xmlns="" id="{1F564BCF-97B6-4D86-94EE-DD1B587F21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717533" y="1300271"/>
            <a:ext cx="1992651" cy="1992652"/>
          </a:xfrm>
          <a:prstGeom prst="round1Rect">
            <a:avLst>
              <a:gd name="adj" fmla="val 11295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ound Single Corner Rectangle 23">
            <a:extLst>
              <a:ext uri="{FF2B5EF4-FFF2-40B4-BE49-F238E27FC236}">
                <a16:creationId xmlns:a16="http://schemas.microsoft.com/office/drawing/2014/main" xmlns="" id="{54600AC1-F146-4567-9C5E-A96D6D34923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1287904" y="3438135"/>
            <a:ext cx="2281244" cy="2281245"/>
          </a:xfrm>
          <a:prstGeom prst="round1Rect">
            <a:avLst>
              <a:gd name="adj" fmla="val 11295"/>
            </a:avLst>
          </a:prstGeom>
          <a:solidFill>
            <a:srgbClr val="89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ound Single Corner Rectangle 24">
            <a:extLst>
              <a:ext uri="{FF2B5EF4-FFF2-40B4-BE49-F238E27FC236}">
                <a16:creationId xmlns:a16="http://schemas.microsoft.com/office/drawing/2014/main" xmlns="" id="{81289F98-975F-4EB2-9553-8E1A9946BA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911284" y="635058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89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ound Single Corner Rectangle 25">
            <a:extLst>
              <a:ext uri="{FF2B5EF4-FFF2-40B4-BE49-F238E27FC236}">
                <a16:creationId xmlns:a16="http://schemas.microsoft.com/office/drawing/2014/main" xmlns="" id="{EBA7E638-205A-4579-864F-125BAC629F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717533" y="3438135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AFAB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FD78918-E2C5-4A02-95FA-F5D1588DC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98" y="969433"/>
            <a:ext cx="2375236" cy="1989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0B9426E-2C05-4260-8686-F1D66E611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47" y="3833544"/>
            <a:ext cx="2375236" cy="1867045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xmlns="" id="{2854001E-6E9D-464A-9B65-A4012F7B30D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7052315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2C9802A-EFBD-41D4-894F-AFD985DBA5B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952907" y="2856601"/>
            <a:ext cx="1597456" cy="0"/>
          </a:xfrm>
          <a:prstGeom prst="line">
            <a:avLst/>
          </a:prstGeom>
          <a:ln w="508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388" y="975365"/>
            <a:ext cx="3847882" cy="1691907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Baseline model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6389" y="1948071"/>
            <a:ext cx="3795142" cy="39342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Logistic Regression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Words are listed from top to bottom based on their model coefficients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lvl="1"/>
            <a:endParaRPr lang="en-US" sz="1800" dirty="0">
              <a:solidFill>
                <a:srgbClr val="FFFFFF"/>
              </a:solidFill>
            </a:endParaRPr>
          </a:p>
          <a:p>
            <a:pPr lvl="1"/>
            <a:endParaRPr lang="en-US" sz="1800" dirty="0">
              <a:solidFill>
                <a:srgbClr val="FFFFFF"/>
              </a:solidFill>
            </a:endParaRPr>
          </a:p>
          <a:p>
            <a:pPr lvl="1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17A8FCA-01B7-4EFA-827D-1B64F1F42CE4}"/>
              </a:ext>
            </a:extLst>
          </p:cNvPr>
          <p:cNvSpPr txBox="1"/>
          <p:nvPr/>
        </p:nvSpPr>
        <p:spPr>
          <a:xfrm>
            <a:off x="3794239" y="1317658"/>
            <a:ext cx="1654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Positive words</a:t>
            </a:r>
            <a:endParaRPr lang="en-GB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B3DBFE1-F765-40B1-9D82-A0C49219AB3E}"/>
              </a:ext>
            </a:extLst>
          </p:cNvPr>
          <p:cNvSpPr txBox="1"/>
          <p:nvPr/>
        </p:nvSpPr>
        <p:spPr>
          <a:xfrm>
            <a:off x="1643271" y="5054258"/>
            <a:ext cx="178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Negative words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7726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B336162-B533-4EFE-8BB3-8EBB4A5E32F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314384" cy="68580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45736"/>
            <a:ext cx="3698803" cy="1366528"/>
          </a:xfrm>
          <a:solidFill>
            <a:srgbClr val="FFFFFF"/>
          </a:solidFill>
          <a:ln w="25400" cap="sq">
            <a:solidFill>
              <a:srgbClr val="404040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rgbClr val="262626"/>
                </a:solidFill>
              </a:rPr>
              <a:t>Other models</a:t>
            </a:r>
            <a:endParaRPr lang="en-GB" sz="320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291548"/>
            <a:ext cx="5408696" cy="57638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Logistic Regression with bi-grams: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Used bi-grams</a:t>
            </a:r>
          </a:p>
          <a:p>
            <a:r>
              <a:rPr lang="en-US" sz="2400" dirty="0"/>
              <a:t>Used TfidfVectorizer</a:t>
            </a:r>
          </a:p>
          <a:p>
            <a:pPr lvl="1"/>
            <a:r>
              <a:rPr lang="en-GB" sz="2000" dirty="0"/>
              <a:t>term-frequency times </a:t>
            </a:r>
            <a:r>
              <a:rPr lang="en-GB" sz="2000" b="1" dirty="0"/>
              <a:t>inverse document-frequency </a:t>
            </a:r>
            <a:endParaRPr lang="en-US" sz="2000" dirty="0"/>
          </a:p>
          <a:p>
            <a:pPr lvl="1"/>
            <a:r>
              <a:rPr lang="en-US" sz="2000" dirty="0"/>
              <a:t>To offset the frequency generated by the most repeated words yet very less meaning (such as ‘a’, ‘the’, ’is’ etc.,) in a large corpus by re-weighting the count features to values suitable for using in the classifier.</a:t>
            </a:r>
          </a:p>
          <a:p>
            <a:pPr lvl="2"/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51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Logistic Regression with bi-grams: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TfidfVectorizer with </a:t>
            </a:r>
            <a:r>
              <a:rPr lang="en-US" dirty="0" err="1"/>
              <a:t>ngram</a:t>
            </a:r>
            <a:r>
              <a:rPr lang="en-US" dirty="0"/>
              <a:t> range as (2,2) – bigram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Improvement in accuracy</a:t>
            </a:r>
          </a:p>
          <a:p>
            <a:pPr lvl="2">
              <a:lnSpc>
                <a:spcPct val="150000"/>
              </a:lnSpc>
            </a:pPr>
            <a:r>
              <a:rPr lang="en-US" dirty="0" err="1" smtClean="0"/>
              <a:t>Accuracu</a:t>
            </a:r>
            <a:r>
              <a:rPr lang="en-US" dirty="0" smtClean="0"/>
              <a:t> : 85.714 %</a:t>
            </a:r>
            <a:endParaRPr lang="en-US" dirty="0"/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xmlns="" id="{83D5FA21-2263-4A2E-8425-886C58298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590" y="2416924"/>
            <a:ext cx="3168740" cy="316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553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xmlns="" id="{B1E3044D-AD17-4052-A453-8AA654EFAB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6797978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 Single Corner Rectangle 22">
            <a:extLst>
              <a:ext uri="{FF2B5EF4-FFF2-40B4-BE49-F238E27FC236}">
                <a16:creationId xmlns:a16="http://schemas.microsoft.com/office/drawing/2014/main" xmlns="" id="{1F564BCF-97B6-4D86-94EE-DD1B587F21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717533" y="1300271"/>
            <a:ext cx="1992651" cy="1992652"/>
          </a:xfrm>
          <a:prstGeom prst="round1Rect">
            <a:avLst>
              <a:gd name="adj" fmla="val 11295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ound Single Corner Rectangle 23">
            <a:extLst>
              <a:ext uri="{FF2B5EF4-FFF2-40B4-BE49-F238E27FC236}">
                <a16:creationId xmlns:a16="http://schemas.microsoft.com/office/drawing/2014/main" xmlns="" id="{54600AC1-F146-4567-9C5E-A96D6D34923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1287904" y="3438135"/>
            <a:ext cx="2281244" cy="2281245"/>
          </a:xfrm>
          <a:prstGeom prst="round1Rect">
            <a:avLst>
              <a:gd name="adj" fmla="val 11295"/>
            </a:avLst>
          </a:prstGeom>
          <a:solidFill>
            <a:srgbClr val="89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ound Single Corner Rectangle 24">
            <a:extLst>
              <a:ext uri="{FF2B5EF4-FFF2-40B4-BE49-F238E27FC236}">
                <a16:creationId xmlns:a16="http://schemas.microsoft.com/office/drawing/2014/main" xmlns="" id="{81289F98-975F-4EB2-9553-8E1A9946BA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911284" y="635058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89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 Single Corner Rectangle 25">
            <a:extLst>
              <a:ext uri="{FF2B5EF4-FFF2-40B4-BE49-F238E27FC236}">
                <a16:creationId xmlns:a16="http://schemas.microsoft.com/office/drawing/2014/main" xmlns="" id="{EBA7E638-205A-4579-864F-125BAC629F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717533" y="3438135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AFAB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973C201-077B-4D8C-8AA0-B868ED3F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932" y="3659310"/>
            <a:ext cx="2518646" cy="1949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5C8548-30A2-40BF-8CDA-80702CBE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97" y="1047759"/>
            <a:ext cx="2454101" cy="1808841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xmlns="" id="{2854001E-6E9D-464A-9B65-A4012F7B30D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7052315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2C9802A-EFBD-41D4-894F-AFD985DBA5B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952907" y="2856601"/>
            <a:ext cx="1597456" cy="0"/>
          </a:xfrm>
          <a:prstGeom prst="line">
            <a:avLst/>
          </a:prstGeom>
          <a:ln w="508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388" y="975366"/>
            <a:ext cx="3847882" cy="12492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Other models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6389" y="313899"/>
            <a:ext cx="3795142" cy="55684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Logistic Regression with bi-grams: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Words are listed from top to bottom based on their model coefficients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6443A0A-0DB6-4032-A64D-C3334294D7AC}"/>
              </a:ext>
            </a:extLst>
          </p:cNvPr>
          <p:cNvSpPr txBox="1"/>
          <p:nvPr/>
        </p:nvSpPr>
        <p:spPr>
          <a:xfrm>
            <a:off x="3794239" y="1317658"/>
            <a:ext cx="1654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Positive words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9D278DE-8DCA-4533-8BAF-3A3D5CD103E3}"/>
              </a:ext>
            </a:extLst>
          </p:cNvPr>
          <p:cNvSpPr txBox="1"/>
          <p:nvPr/>
        </p:nvSpPr>
        <p:spPr>
          <a:xfrm>
            <a:off x="1643271" y="5054258"/>
            <a:ext cx="178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Negative words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5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Random forest with bi-grams: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A Random Forest n-gram model is a collection of randomly constructed decision tree n-gram models.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Random Forest models in language modeling are used to deal with the data sparseness problem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Accuracy: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84.6560%</a:t>
            </a:r>
            <a:endParaRPr lang="en-US" dirty="0"/>
          </a:p>
        </p:txBody>
      </p:sp>
      <p:pic>
        <p:nvPicPr>
          <p:cNvPr id="4098" name="Picture 2" descr="Image result for random forest algorithm">
            <a:extLst>
              <a:ext uri="{FF2B5EF4-FFF2-40B4-BE49-F238E27FC236}">
                <a16:creationId xmlns:a16="http://schemas.microsoft.com/office/drawing/2014/main" xmlns="" id="{A92A6006-1E5E-4F6B-AA30-DB9E79C73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692" y="3777673"/>
            <a:ext cx="609600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60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Naïve Bayes with bi-grams: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The probabilistic model of naive Bayes classifiers is based on Bayes’ theorem. Naïve Bayes classifiers are linear classifiers which are known to be simple and efficient models.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US" dirty="0"/>
          </a:p>
          <a:p>
            <a:pPr algn="just">
              <a:lnSpc>
                <a:spcPct val="100000"/>
              </a:lnSpc>
            </a:pPr>
            <a:r>
              <a:rPr lang="en-US" dirty="0"/>
              <a:t>Accuracy: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83.4371</a:t>
            </a:r>
            <a:endParaRPr lang="en-US" dirty="0"/>
          </a:p>
        </p:txBody>
      </p:sp>
      <p:pic>
        <p:nvPicPr>
          <p:cNvPr id="5122" name="Picture 2" descr="Image result for naive bayes algorithm">
            <a:extLst>
              <a:ext uri="{FF2B5EF4-FFF2-40B4-BE49-F238E27FC236}">
                <a16:creationId xmlns:a16="http://schemas.microsoft.com/office/drawing/2014/main" xmlns="" id="{D2233C93-3123-456B-A4F6-DBC34CE83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165" y="3453883"/>
            <a:ext cx="4379843" cy="275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016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Logistic Regression with tri-grams: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Used tri-grams with TfidfVectorizer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Accuracy reduced over bigrams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Accuracy: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 smtClean="0"/>
              <a:t>85.818%</a:t>
            </a:r>
            <a:endParaRPr lang="en-US" dirty="0"/>
          </a:p>
        </p:txBody>
      </p:sp>
      <p:pic>
        <p:nvPicPr>
          <p:cNvPr id="7170" name="Picture 2" descr="Image result for trigrams">
            <a:extLst>
              <a:ext uri="{FF2B5EF4-FFF2-40B4-BE49-F238E27FC236}">
                <a16:creationId xmlns:a16="http://schemas.microsoft.com/office/drawing/2014/main" xmlns="" id="{11B1A97E-FA65-4A6D-A254-0FDAB7933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653771" y="2672402"/>
            <a:ext cx="5913441" cy="109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72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xmlns="" id="{B1E3044D-AD17-4052-A453-8AA654EFAB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6797978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 Single Corner Rectangle 22">
            <a:extLst>
              <a:ext uri="{FF2B5EF4-FFF2-40B4-BE49-F238E27FC236}">
                <a16:creationId xmlns:a16="http://schemas.microsoft.com/office/drawing/2014/main" xmlns="" id="{1F564BCF-97B6-4D86-94EE-DD1B587F21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717533" y="1300271"/>
            <a:ext cx="1992651" cy="1992652"/>
          </a:xfrm>
          <a:prstGeom prst="round1Rect">
            <a:avLst>
              <a:gd name="adj" fmla="val 11295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ound Single Corner Rectangle 23">
            <a:extLst>
              <a:ext uri="{FF2B5EF4-FFF2-40B4-BE49-F238E27FC236}">
                <a16:creationId xmlns:a16="http://schemas.microsoft.com/office/drawing/2014/main" xmlns="" id="{54600AC1-F146-4567-9C5E-A96D6D34923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1287904" y="3438135"/>
            <a:ext cx="2281244" cy="2281245"/>
          </a:xfrm>
          <a:prstGeom prst="round1Rect">
            <a:avLst>
              <a:gd name="adj" fmla="val 11295"/>
            </a:avLst>
          </a:prstGeom>
          <a:solidFill>
            <a:srgbClr val="89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ound Single Corner Rectangle 24">
            <a:extLst>
              <a:ext uri="{FF2B5EF4-FFF2-40B4-BE49-F238E27FC236}">
                <a16:creationId xmlns:a16="http://schemas.microsoft.com/office/drawing/2014/main" xmlns="" id="{81289F98-975F-4EB2-9553-8E1A9946BA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911284" y="635058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89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 Single Corner Rectangle 25">
            <a:extLst>
              <a:ext uri="{FF2B5EF4-FFF2-40B4-BE49-F238E27FC236}">
                <a16:creationId xmlns:a16="http://schemas.microsoft.com/office/drawing/2014/main" xmlns="" id="{EBA7E638-205A-4579-864F-125BAC629F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717533" y="3438135"/>
            <a:ext cx="2657864" cy="2657864"/>
          </a:xfrm>
          <a:prstGeom prst="round1Rect">
            <a:avLst>
              <a:gd name="adj" fmla="val 11295"/>
            </a:avLst>
          </a:prstGeom>
          <a:solidFill>
            <a:srgbClr val="FFFFFF"/>
          </a:solidFill>
          <a:ln w="57150">
            <a:solidFill>
              <a:srgbClr val="AFAB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E376BB9-BEB6-4659-95AA-046CBDC3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477" y="4055209"/>
            <a:ext cx="2375236" cy="1322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7AF590-3019-481E-9067-0FDC7A73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89" y="1250478"/>
            <a:ext cx="2375236" cy="1410034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xmlns="" id="{2854001E-6E9D-464A-9B65-A4012F7B30D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7052315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2C9802A-EFBD-41D4-894F-AFD985DBA5B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952907" y="2856601"/>
            <a:ext cx="1597456" cy="0"/>
          </a:xfrm>
          <a:prstGeom prst="line">
            <a:avLst/>
          </a:prstGeom>
          <a:ln w="508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388" y="975365"/>
            <a:ext cx="3847882" cy="1691907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Other models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6389" y="1842052"/>
            <a:ext cx="3795142" cy="404026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Logistic Regression with tri-grams: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Words are listed from top to bottom based on their model coefficients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lvl="1"/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5386B8A-775E-4205-AB1C-455BBEDB2906}"/>
              </a:ext>
            </a:extLst>
          </p:cNvPr>
          <p:cNvSpPr txBox="1"/>
          <p:nvPr/>
        </p:nvSpPr>
        <p:spPr>
          <a:xfrm>
            <a:off x="3794239" y="1317658"/>
            <a:ext cx="1654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Positive words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0D56FEC-5CB3-45B3-B9A8-F02760F8BE9C}"/>
              </a:ext>
            </a:extLst>
          </p:cNvPr>
          <p:cNvSpPr txBox="1"/>
          <p:nvPr/>
        </p:nvSpPr>
        <p:spPr>
          <a:xfrm>
            <a:off x="1643271" y="5054258"/>
            <a:ext cx="178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10 Negative words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08126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TimesNewRomanPS"/>
              </a:rPr>
              <a:t>Assuming that news articles have impact on stock market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dirty="0">
                <a:solidFill>
                  <a:srgbClr val="000000"/>
                </a:solidFill>
                <a:latin typeface="TimesNewRomanPS"/>
              </a:rPr>
              <a:t>Taking non quantifiable data  and predicting its future stock trend with news sentiment classification. </a:t>
            </a:r>
            <a:endParaRPr lang="en-US" b="0" dirty="0">
              <a:solidFill>
                <a:srgbClr val="000000"/>
              </a:solidFill>
              <a:effectLst/>
              <a:latin typeface="-webkit-standard"/>
            </a:endParaRP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A45BA6-9B3B-4FCF-81EC-6B26096C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947" y="4271678"/>
            <a:ext cx="43243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7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E9AC98B5-BDA3-41BC-91E8-72BFE4104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787822"/>
              </p:ext>
            </p:extLst>
          </p:nvPr>
        </p:nvGraphicFramePr>
        <p:xfrm>
          <a:off x="838200" y="1690688"/>
          <a:ext cx="8706678" cy="4198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07706">
                  <a:extLst>
                    <a:ext uri="{9D8B030D-6E8A-4147-A177-3AD203B41FA5}">
                      <a16:colId xmlns:a16="http://schemas.microsoft.com/office/drawing/2014/main" xmlns="" val="29662157"/>
                    </a:ext>
                  </a:extLst>
                </a:gridCol>
                <a:gridCol w="2498972">
                  <a:extLst>
                    <a:ext uri="{9D8B030D-6E8A-4147-A177-3AD203B41FA5}">
                      <a16:colId xmlns:a16="http://schemas.microsoft.com/office/drawing/2014/main" xmlns="" val="1324134859"/>
                    </a:ext>
                  </a:extLst>
                </a:gridCol>
              </a:tblGrid>
              <a:tr h="524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2698736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</a:t>
                      </a:r>
                      <a:r>
                        <a:rPr lang="en-US" dirty="0"/>
                        <a:t>regression with bag of </a:t>
                      </a:r>
                      <a:r>
                        <a:rPr lang="en-US" dirty="0" smtClean="0"/>
                        <a:t>words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82.27%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31660726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/>
                        <a:t>Logistic Regression with bigrams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85.71%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3495043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/>
                        <a:t>Random Forest with bigrams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85.97%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3461476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/>
                        <a:t>Naïve Bayes with bigrams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82.01</a:t>
                      </a:r>
                      <a:r>
                        <a:rPr lang="en-US" dirty="0"/>
                        <a:t>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20602878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 smtClean="0"/>
                        <a:t>SVM</a:t>
                      </a:r>
                      <a:r>
                        <a:rPr lang="en-US" baseline="0" dirty="0" smtClean="0"/>
                        <a:t> with Gaussian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85.18%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2874106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/>
                        <a:t>Logistic Regression with trigrams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85.18%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08127945"/>
                  </a:ext>
                </a:extLst>
              </a:tr>
              <a:tr h="524861">
                <a:tc>
                  <a:txBody>
                    <a:bodyPr/>
                    <a:lstStyle/>
                    <a:p>
                      <a:r>
                        <a:rPr lang="en-US" dirty="0" smtClean="0"/>
                        <a:t>SVM</a:t>
                      </a:r>
                      <a:r>
                        <a:rPr lang="en-US" baseline="0" dirty="0" smtClean="0"/>
                        <a:t> with 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82.27</a:t>
                      </a:r>
                      <a:r>
                        <a:rPr lang="en-US" dirty="0"/>
                        <a:t>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879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24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E0D60ECE-8986-45DC-B7FE-EC7699B466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5438829" cy="5840278"/>
          </a:xfrm>
          <a:custGeom>
            <a:avLst/>
            <a:gdLst>
              <a:gd name="connsiteX0" fmla="*/ 0 w 5438829"/>
              <a:gd name="connsiteY0" fmla="*/ 0 h 5840278"/>
              <a:gd name="connsiteX1" fmla="*/ 4466700 w 5438829"/>
              <a:gd name="connsiteY1" fmla="*/ 0 h 5840278"/>
              <a:gd name="connsiteX2" fmla="*/ 4652178 w 5438829"/>
              <a:gd name="connsiteY2" fmla="*/ 204077 h 5840278"/>
              <a:gd name="connsiteX3" fmla="*/ 5438829 w 5438829"/>
              <a:gd name="connsiteY3" fmla="*/ 2395363 h 5840278"/>
              <a:gd name="connsiteX4" fmla="*/ 1993914 w 5438829"/>
              <a:gd name="connsiteY4" fmla="*/ 5840278 h 5840278"/>
              <a:gd name="connsiteX5" fmla="*/ 67829 w 5438829"/>
              <a:gd name="connsiteY5" fmla="*/ 5251941 h 5840278"/>
              <a:gd name="connsiteX6" fmla="*/ 0 w 5438829"/>
              <a:gd name="connsiteY6" fmla="*/ 5201220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8829" h="5840278">
                <a:moveTo>
                  <a:pt x="0" y="0"/>
                </a:moveTo>
                <a:lnTo>
                  <a:pt x="4466700" y="0"/>
                </a:lnTo>
                <a:lnTo>
                  <a:pt x="4652178" y="204077"/>
                </a:lnTo>
                <a:cubicBezTo>
                  <a:pt x="5143616" y="799562"/>
                  <a:pt x="5438829" y="1562987"/>
                  <a:pt x="5438829" y="2395363"/>
                </a:cubicBezTo>
                <a:cubicBezTo>
                  <a:pt x="5438829" y="4297937"/>
                  <a:pt x="3896488" y="5840278"/>
                  <a:pt x="1993914" y="5840278"/>
                </a:cubicBezTo>
                <a:cubicBezTo>
                  <a:pt x="1280449" y="5840278"/>
                  <a:pt x="617641" y="5623387"/>
                  <a:pt x="67829" y="5251941"/>
                </a:cubicBezTo>
                <a:lnTo>
                  <a:pt x="0" y="520122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96964194-5878-40D2-8EC0-DDC58387FA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269134" cy="5654940"/>
          </a:xfrm>
          <a:custGeom>
            <a:avLst/>
            <a:gdLst>
              <a:gd name="connsiteX0" fmla="*/ 0 w 5269134"/>
              <a:gd name="connsiteY0" fmla="*/ 0 h 5654940"/>
              <a:gd name="connsiteX1" fmla="*/ 4227767 w 5269134"/>
              <a:gd name="connsiteY1" fmla="*/ 0 h 5654940"/>
              <a:gd name="connsiteX2" fmla="*/ 4312042 w 5269134"/>
              <a:gd name="connsiteY2" fmla="*/ 76595 h 5654940"/>
              <a:gd name="connsiteX3" fmla="*/ 5269134 w 5269134"/>
              <a:gd name="connsiteY3" fmla="*/ 2387221 h 5654940"/>
              <a:gd name="connsiteX4" fmla="*/ 2001415 w 5269134"/>
              <a:gd name="connsiteY4" fmla="*/ 5654940 h 5654940"/>
              <a:gd name="connsiteX5" fmla="*/ 198928 w 5269134"/>
              <a:gd name="connsiteY5" fmla="*/ 5113274 h 5654940"/>
              <a:gd name="connsiteX6" fmla="*/ 0 w 5269134"/>
              <a:gd name="connsiteY6" fmla="*/ 4969563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9134" h="5654940">
                <a:moveTo>
                  <a:pt x="0" y="0"/>
                </a:moveTo>
                <a:lnTo>
                  <a:pt x="4227767" y="0"/>
                </a:lnTo>
                <a:lnTo>
                  <a:pt x="4312042" y="76595"/>
                </a:lnTo>
                <a:cubicBezTo>
                  <a:pt x="4903383" y="667936"/>
                  <a:pt x="5269134" y="1484866"/>
                  <a:pt x="5269134" y="2387221"/>
                </a:cubicBezTo>
                <a:cubicBezTo>
                  <a:pt x="5269134" y="4191932"/>
                  <a:pt x="3806126" y="5654940"/>
                  <a:pt x="2001415" y="5654940"/>
                </a:cubicBezTo>
                <a:cubicBezTo>
                  <a:pt x="1335223" y="5654940"/>
                  <a:pt x="715593" y="5455584"/>
                  <a:pt x="198928" y="5113274"/>
                </a:cubicBezTo>
                <a:lnTo>
                  <a:pt x="0" y="496956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D7B0170F-F978-4EFF-B87F-1184EFA76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21733" y="543135"/>
            <a:ext cx="3835488" cy="3835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15B-EA3A-4734-A4CA-02EB3DDA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68" y="803325"/>
            <a:ext cx="5314536" cy="1325563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454889-3885-4659-9317-5589224C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667" y="2279018"/>
            <a:ext cx="5314543" cy="337592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Logistic regression with bag of words</a:t>
            </a:r>
            <a:r>
              <a:rPr lang="en-US" sz="2400" dirty="0" smtClean="0"/>
              <a:t> </a:t>
            </a:r>
            <a:r>
              <a:rPr lang="en-US" sz="2400" dirty="0"/>
              <a:t>accuracy: </a:t>
            </a:r>
            <a:r>
              <a:rPr lang="en-US" sz="2400" dirty="0" smtClean="0"/>
              <a:t>82.27</a:t>
            </a:r>
            <a:r>
              <a:rPr lang="en-US" sz="2400" dirty="0" smtClean="0"/>
              <a:t>%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Improved accuracy: </a:t>
            </a:r>
            <a:r>
              <a:rPr lang="en-US" sz="2400" dirty="0" smtClean="0"/>
              <a:t>85.71%, achieved with logistic regression bigram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Best accuracy: </a:t>
            </a:r>
            <a:r>
              <a:rPr lang="en-US" sz="2400" dirty="0" smtClean="0"/>
              <a:t>85</a:t>
            </a:r>
            <a:r>
              <a:rPr lang="en-US" sz="2400" dirty="0" smtClean="0"/>
              <a:t>.97</a:t>
            </a:r>
            <a:r>
              <a:rPr lang="en-US" sz="2400" dirty="0"/>
              <a:t>%, achieved with </a:t>
            </a:r>
            <a:r>
              <a:rPr lang="en-US" sz="2400" dirty="0" smtClean="0"/>
              <a:t>random forest bigrams 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3139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 result for thank you word cloud images">
            <a:extLst>
              <a:ext uri="{FF2B5EF4-FFF2-40B4-BE49-F238E27FC236}">
                <a16:creationId xmlns:a16="http://schemas.microsoft.com/office/drawing/2014/main" xmlns="" id="{B09A45ED-1B36-4EEA-B525-4810362A8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" r="5" b="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259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10902</TotalTime>
  <Words>933</Words>
  <Application>Microsoft Office PowerPoint</Application>
  <PresentationFormat>Custom</PresentationFormat>
  <Paragraphs>155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Stock market prediction using news headlines</vt:lpstr>
      <vt:lpstr>Problem definition</vt:lpstr>
      <vt:lpstr>Overview</vt:lpstr>
      <vt:lpstr>Overview</vt:lpstr>
      <vt:lpstr>Dataset</vt:lpstr>
      <vt:lpstr>Dataset</vt:lpstr>
      <vt:lpstr>Dataset</vt:lpstr>
      <vt:lpstr>Dataset</vt:lpstr>
      <vt:lpstr>Data Preprocessing</vt:lpstr>
      <vt:lpstr>Data Preprocessing</vt:lpstr>
      <vt:lpstr>Exploratory data analysis</vt:lpstr>
      <vt:lpstr>Exploratory data analysis</vt:lpstr>
      <vt:lpstr>Exploratory data analysis</vt:lpstr>
      <vt:lpstr>Baseline model</vt:lpstr>
      <vt:lpstr>Baseline model</vt:lpstr>
      <vt:lpstr>Baseline model</vt:lpstr>
      <vt:lpstr>Baseline model</vt:lpstr>
      <vt:lpstr>Other models</vt:lpstr>
      <vt:lpstr>Other models</vt:lpstr>
      <vt:lpstr>Other models</vt:lpstr>
      <vt:lpstr>Other models</vt:lpstr>
      <vt:lpstr>Other models</vt:lpstr>
      <vt:lpstr>Other models</vt:lpstr>
      <vt:lpstr>Other models</vt:lpstr>
      <vt:lpstr>Sentiment Analysis</vt:lpstr>
      <vt:lpstr>Model Comparison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prediction using news headlines</dc:title>
  <dc:creator>schinth</dc:creator>
  <cp:lastModifiedBy>HARSHITH</cp:lastModifiedBy>
  <cp:revision>144</cp:revision>
  <dcterms:created xsi:type="dcterms:W3CDTF">2018-05-01T00:31:17Z</dcterms:created>
  <dcterms:modified xsi:type="dcterms:W3CDTF">2019-04-28T06:53:27Z</dcterms:modified>
</cp:coreProperties>
</file>